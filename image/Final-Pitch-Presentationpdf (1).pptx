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DM Sans Medium"/>
      <p:regular r:id="rId14"/>
    </p:embeddedFont>
    <p:embeddedFont>
      <p:font typeface="DM Sans Medium"/>
      <p:regular r:id="rId15"/>
    </p:embeddedFont>
    <p:embeddedFont>
      <p:font typeface="DM Sans Medium"/>
      <p:regular r:id="rId16"/>
    </p:embeddedFont>
    <p:embeddedFont>
      <p:font typeface="DM Sans Medium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5833" y="432911"/>
            <a:ext cx="8918734" cy="535114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5833" y="5895618"/>
            <a:ext cx="805339" cy="272534"/>
          </a:xfrm>
          <a:prstGeom prst="roundRect">
            <a:avLst>
              <a:gd name="adj" fmla="val 6890"/>
            </a:avLst>
          </a:prstGeom>
          <a:noFill/>
          <a:ln w="7620">
            <a:solidFill>
              <a:srgbClr val="AC9EF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957274" y="5950148"/>
            <a:ext cx="602456" cy="163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2855833" y="6207800"/>
            <a:ext cx="3911679" cy="48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Final Pitch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2855833" y="6736318"/>
            <a:ext cx="312932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ChargeMate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2855833" y="7276148"/>
            <a:ext cx="8918734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Everyday Friction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55833" y="7592139"/>
            <a:ext cx="8918734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Sarah Stantial · Shannon Cullen · Ryan Jankowski · Rohan Pratap Reddy Ravula · Annanahmed Shaikh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863566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Problem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00537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always having the right cable/adapter when you need it and not being able to use someone else's.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377070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This Matters: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4037" y="4526756"/>
            <a:ext cx="12902327" cy="183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Wastes time looking for the correct charger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 devices during traveling or paying another charger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Carrying multiple chargers causes tangling and wasted time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Waste money and productivity getting a new cable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543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7022" y="188249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Who Is Affected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797022" y="2360771"/>
            <a:ext cx="7036237" cy="44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affected by this? The scale of this problem is vast. Virtually every American carries a device — and the majority carry several. The charging cable problem isn't a niche inconvenience; it's a universal daily friction point affecting hundreds of millions of people.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797022" y="2897624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Statistics: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022" y="3183017"/>
            <a:ext cx="7036237" cy="36281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953486" y="4066970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98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12369585" y="5697718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81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10580656" y="7328466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3797022" y="7215783"/>
            <a:ext cx="22868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People We've Directly Talked to: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797022" y="7501176"/>
            <a:ext cx="1712714" cy="871538"/>
          </a:xfrm>
          <a:prstGeom prst="roundRect">
            <a:avLst>
              <a:gd name="adj" fmla="val 2125"/>
            </a:avLst>
          </a:prstGeom>
          <a:solidFill>
            <a:srgbClr val="4C5052"/>
          </a:solidFill>
          <a:ln/>
        </p:spPr>
      </p:sp>
      <p:sp>
        <p:nvSpPr>
          <p:cNvPr id="12" name="Shape 8"/>
          <p:cNvSpPr/>
          <p:nvPr/>
        </p:nvSpPr>
        <p:spPr>
          <a:xfrm>
            <a:off x="3920371" y="7624524"/>
            <a:ext cx="370284" cy="370284"/>
          </a:xfrm>
          <a:prstGeom prst="roundRect">
            <a:avLst>
              <a:gd name="adj" fmla="val 24692089"/>
            </a:avLst>
          </a:prstGeom>
          <a:solidFill>
            <a:srgbClr val="AC9E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2169" y="7726323"/>
            <a:ext cx="166568" cy="1665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20371" y="8056483"/>
            <a:ext cx="146601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Industry workers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571411" y="7501176"/>
            <a:ext cx="1712833" cy="871538"/>
          </a:xfrm>
          <a:prstGeom prst="roundRect">
            <a:avLst>
              <a:gd name="adj" fmla="val 2125"/>
            </a:avLst>
          </a:prstGeom>
          <a:solidFill>
            <a:srgbClr val="4C5052"/>
          </a:solidFill>
          <a:ln/>
        </p:spPr>
      </p:sp>
      <p:sp>
        <p:nvSpPr>
          <p:cNvPr id="16" name="Shape 11"/>
          <p:cNvSpPr/>
          <p:nvPr/>
        </p:nvSpPr>
        <p:spPr>
          <a:xfrm>
            <a:off x="5694759" y="7624524"/>
            <a:ext cx="370284" cy="370284"/>
          </a:xfrm>
          <a:prstGeom prst="roundRect">
            <a:avLst>
              <a:gd name="adj" fmla="val 24692089"/>
            </a:avLst>
          </a:prstGeom>
          <a:solidFill>
            <a:srgbClr val="AC9EF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6558" y="7726323"/>
            <a:ext cx="166568" cy="1665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94759" y="8056483"/>
            <a:ext cx="146613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Office workers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345918" y="7501176"/>
            <a:ext cx="1712833" cy="871538"/>
          </a:xfrm>
          <a:prstGeom prst="roundRect">
            <a:avLst>
              <a:gd name="adj" fmla="val 2125"/>
            </a:avLst>
          </a:prstGeom>
          <a:solidFill>
            <a:srgbClr val="4C5052"/>
          </a:solidFill>
          <a:ln/>
        </p:spPr>
      </p:sp>
      <p:sp>
        <p:nvSpPr>
          <p:cNvPr id="20" name="Shape 14"/>
          <p:cNvSpPr/>
          <p:nvPr/>
        </p:nvSpPr>
        <p:spPr>
          <a:xfrm>
            <a:off x="7469267" y="7624524"/>
            <a:ext cx="370284" cy="370284"/>
          </a:xfrm>
          <a:prstGeom prst="roundRect">
            <a:avLst>
              <a:gd name="adj" fmla="val 24692089"/>
            </a:avLst>
          </a:prstGeom>
          <a:solidFill>
            <a:srgbClr val="AC9EF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71065" y="7726323"/>
            <a:ext cx="166568" cy="1665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69267" y="8056483"/>
            <a:ext cx="146613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Students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9120426" y="7501176"/>
            <a:ext cx="1712833" cy="871538"/>
          </a:xfrm>
          <a:prstGeom prst="roundRect">
            <a:avLst>
              <a:gd name="adj" fmla="val 2125"/>
            </a:avLst>
          </a:prstGeom>
          <a:solidFill>
            <a:srgbClr val="4C5052"/>
          </a:solidFill>
          <a:ln/>
        </p:spPr>
      </p:sp>
      <p:sp>
        <p:nvSpPr>
          <p:cNvPr id="24" name="Shape 17"/>
          <p:cNvSpPr/>
          <p:nvPr/>
        </p:nvSpPr>
        <p:spPr>
          <a:xfrm>
            <a:off x="9243774" y="7624524"/>
            <a:ext cx="370284" cy="370284"/>
          </a:xfrm>
          <a:prstGeom prst="roundRect">
            <a:avLst>
              <a:gd name="adj" fmla="val 24692089"/>
            </a:avLst>
          </a:prstGeom>
          <a:solidFill>
            <a:srgbClr val="AC9EF5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45573" y="7726323"/>
            <a:ext cx="166568" cy="1665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243774" y="8056483"/>
            <a:ext cx="146613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Travelers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3797022" y="8434388"/>
            <a:ext cx="7036237" cy="871538"/>
          </a:xfrm>
          <a:prstGeom prst="roundRect">
            <a:avLst>
              <a:gd name="adj" fmla="val 2125"/>
            </a:avLst>
          </a:prstGeom>
          <a:solidFill>
            <a:srgbClr val="4C5052"/>
          </a:solidFill>
          <a:ln/>
        </p:spPr>
      </p:sp>
      <p:sp>
        <p:nvSpPr>
          <p:cNvPr id="28" name="Shape 20"/>
          <p:cNvSpPr/>
          <p:nvPr/>
        </p:nvSpPr>
        <p:spPr>
          <a:xfrm>
            <a:off x="3920371" y="8557736"/>
            <a:ext cx="370284" cy="370284"/>
          </a:xfrm>
          <a:prstGeom prst="roundRect">
            <a:avLst>
              <a:gd name="adj" fmla="val 24692089"/>
            </a:avLst>
          </a:prstGeom>
          <a:solidFill>
            <a:srgbClr val="AC9EF5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22169" y="8659535"/>
            <a:ext cx="166568" cy="1665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920371" y="8989695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All ages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079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74608" y="2833092"/>
            <a:ext cx="4158377" cy="51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Industry Context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2574608" y="3520916"/>
            <a:ext cx="3085624" cy="2255282"/>
          </a:xfrm>
          <a:prstGeom prst="roundRect">
            <a:avLst>
              <a:gd name="adj" fmla="val 1106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2740938" y="3687247"/>
            <a:ext cx="275296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Growing Dependence on Multi-Device Connectivity: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0938" y="4273987"/>
            <a:ext cx="2752963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Professionals and students increasingly rely on constant connectivity for productivity and communication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72269" y="3520916"/>
            <a:ext cx="3085743" cy="2255282"/>
          </a:xfrm>
          <a:prstGeom prst="roundRect">
            <a:avLst>
              <a:gd name="adj" fmla="val 1106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5938599" y="3687247"/>
            <a:ext cx="2753082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Fragmented Charging &amp; Adapter Market: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38599" y="4273987"/>
            <a:ext cx="275308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solutions are disconnected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970050" y="3520916"/>
            <a:ext cx="3085743" cy="2255282"/>
          </a:xfrm>
          <a:prstGeom prst="roundRect">
            <a:avLst>
              <a:gd name="adj" fmla="val 1106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9136380" y="3687247"/>
            <a:ext cx="2753082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Rising Mobility &amp; Travel Demand: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36380" y="4273987"/>
            <a:ext cx="2753082" cy="133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in remote work, travel, and digital lifestyles increases need for portable power solutions International travel introduces incompatible plug standards (US, EU, UK, etc.)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574608" y="5888236"/>
            <a:ext cx="4684514" cy="1587341"/>
          </a:xfrm>
          <a:prstGeom prst="roundRect">
            <a:avLst>
              <a:gd name="adj" fmla="val 1572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2740938" y="6054566"/>
            <a:ext cx="435185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Consumer Behavior: Workarounds ≠ Solutions: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40938" y="6641306"/>
            <a:ext cx="4351853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carry multiple chargers, buy duplicates, or rely on partial fixes These solutions create clutter, inefficiency, and added cost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71159" y="5888236"/>
            <a:ext cx="4684633" cy="1587341"/>
          </a:xfrm>
          <a:prstGeom prst="roundRect">
            <a:avLst>
              <a:gd name="adj" fmla="val 1572"/>
            </a:avLst>
          </a:prstGeom>
          <a:solidFill>
            <a:srgbClr val="4C5052"/>
          </a:solidFill>
          <a:ln/>
        </p:spPr>
      </p:sp>
      <p:sp>
        <p:nvSpPr>
          <p:cNvPr id="17" name="Text 14"/>
          <p:cNvSpPr/>
          <p:nvPr/>
        </p:nvSpPr>
        <p:spPr>
          <a:xfrm>
            <a:off x="7537490" y="6054566"/>
            <a:ext cx="207918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Market Opportunity: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37490" y="6381512"/>
            <a:ext cx="4351973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travel adapter market estimated at ~$1–2.4B and growing Opportunity exists for a fully integrated, all-in-one charging system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395895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Implementation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4037" y="3266123"/>
            <a:ext cx="705183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Strategic Investors &amp; Partners: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864037" y="4253508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Companies like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HP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Samsung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Dell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have enormous incentive to support a solution — fixing a problem their own users experience daily directly boosts loyalty, reputation, and revenue.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8851" y="906423"/>
            <a:ext cx="4452818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Manufacturing Plan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2238851" y="1719977"/>
            <a:ext cx="10152578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Weight: approx. 12-14 oz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38851" y="2109787"/>
            <a:ext cx="10152578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Size: 150mm × 50mm × 30–77mm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38851" y="2499598"/>
            <a:ext cx="10152578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Manufacturing: The casings will be injection molded with plastic, and the components will be soldered together and inserted into the casing.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38851" y="3182779"/>
            <a:ext cx="5367099" cy="445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How will we actually produce it?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38851" y="3820716"/>
            <a:ext cx="5012055" cy="534233"/>
          </a:xfrm>
          <a:prstGeom prst="roundRect">
            <a:avLst>
              <a:gd name="adj" fmla="val 480102"/>
            </a:avLst>
          </a:prstGeom>
          <a:solidFill>
            <a:srgbClr val="4C5052"/>
          </a:solidFill>
          <a:ln/>
        </p:spPr>
      </p:sp>
      <p:sp>
        <p:nvSpPr>
          <p:cNvPr id="8" name="Text 6"/>
          <p:cNvSpPr/>
          <p:nvPr/>
        </p:nvSpPr>
        <p:spPr>
          <a:xfrm>
            <a:off x="4611291" y="3920847"/>
            <a:ext cx="267057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416850" y="4483418"/>
            <a:ext cx="4656058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Partner with a Contract Manufacturer (OEM/ODM)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379375" y="3820716"/>
            <a:ext cx="5012055" cy="534233"/>
          </a:xfrm>
          <a:prstGeom prst="roundRect">
            <a:avLst>
              <a:gd name="adj" fmla="val 480102"/>
            </a:avLst>
          </a:prstGeom>
          <a:solidFill>
            <a:srgbClr val="4C5052"/>
          </a:solidFill>
          <a:ln/>
        </p:spPr>
      </p:sp>
      <p:sp>
        <p:nvSpPr>
          <p:cNvPr id="11" name="Text 9"/>
          <p:cNvSpPr/>
          <p:nvPr/>
        </p:nvSpPr>
        <p:spPr>
          <a:xfrm>
            <a:off x="9751814" y="3920847"/>
            <a:ext cx="267057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557373" y="4483418"/>
            <a:ext cx="3698081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Provide Our Design + Requirements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2238851" y="5346383"/>
            <a:ext cx="5012055" cy="534233"/>
          </a:xfrm>
          <a:prstGeom prst="roundRect">
            <a:avLst>
              <a:gd name="adj" fmla="val 480102"/>
            </a:avLst>
          </a:prstGeom>
          <a:solidFill>
            <a:srgbClr val="4C5052"/>
          </a:solidFill>
          <a:ln/>
        </p:spPr>
      </p:sp>
      <p:sp>
        <p:nvSpPr>
          <p:cNvPr id="14" name="Text 12"/>
          <p:cNvSpPr/>
          <p:nvPr/>
        </p:nvSpPr>
        <p:spPr>
          <a:xfrm>
            <a:off x="4611291" y="5446514"/>
            <a:ext cx="267057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416850" y="6009084"/>
            <a:ext cx="2226350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Send manufacturer: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2416850" y="6364367"/>
            <a:ext cx="4656058" cy="780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 model (your MVP)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requirements (battery size, ports, voltage, etc.)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79375" y="5346383"/>
            <a:ext cx="5012055" cy="534233"/>
          </a:xfrm>
          <a:prstGeom prst="roundRect">
            <a:avLst>
              <a:gd name="adj" fmla="val 480102"/>
            </a:avLst>
          </a:prstGeom>
          <a:solidFill>
            <a:srgbClr val="4C5052"/>
          </a:solidFill>
          <a:ln/>
        </p:spPr>
      </p:sp>
      <p:sp>
        <p:nvSpPr>
          <p:cNvPr id="18" name="Text 16"/>
          <p:cNvSpPr/>
          <p:nvPr/>
        </p:nvSpPr>
        <p:spPr>
          <a:xfrm>
            <a:off x="9751814" y="5446514"/>
            <a:ext cx="267057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57373" y="6009084"/>
            <a:ext cx="2226350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Tooling &amp; Setup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57373" y="6364367"/>
            <a:ext cx="4656058" cy="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injection molds for the outer casing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assembly line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0054" y="1037034"/>
            <a:ext cx="4741069" cy="592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Competitors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150054" y="1848088"/>
            <a:ext cx="758547" cy="1137761"/>
          </a:xfrm>
          <a:prstGeom prst="roundRect">
            <a:avLst>
              <a:gd name="adj" fmla="val 360013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6387108" y="2239208"/>
            <a:ext cx="284440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54215" y="2037636"/>
            <a:ext cx="2370534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Travel Adapters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054215" y="2421255"/>
            <a:ext cx="6912531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e.g., Vintar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50054" y="3131463"/>
            <a:ext cx="758547" cy="1137761"/>
          </a:xfrm>
          <a:prstGeom prst="roundRect">
            <a:avLst>
              <a:gd name="adj" fmla="val 360013"/>
            </a:avLst>
          </a:pr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6387108" y="3522583"/>
            <a:ext cx="284440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054215" y="3321010"/>
            <a:ext cx="3620929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Portable Chargers / Power Banks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054215" y="3704630"/>
            <a:ext cx="6912531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e.g., Ansody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150054" y="4414838"/>
            <a:ext cx="758547" cy="1137761"/>
          </a:xfrm>
          <a:prstGeom prst="roundRect">
            <a:avLst>
              <a:gd name="adj" fmla="val 360013"/>
            </a:avLst>
          </a:prstGeom>
          <a:solidFill>
            <a:srgbClr val="4C5052"/>
          </a:solidFill>
          <a:ln/>
        </p:spPr>
      </p:sp>
      <p:sp>
        <p:nvSpPr>
          <p:cNvPr id="13" name="Text 10"/>
          <p:cNvSpPr/>
          <p:nvPr/>
        </p:nvSpPr>
        <p:spPr>
          <a:xfrm>
            <a:off x="6387108" y="4805958"/>
            <a:ext cx="284440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054215" y="4604385"/>
            <a:ext cx="2370534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Cable Converters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054215" y="4988004"/>
            <a:ext cx="6912531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e.g., YBBGANTE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150054" y="5771078"/>
            <a:ext cx="2370534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Market Gap: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150054" y="6285786"/>
            <a:ext cx="7816691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must carry multiple separate devices</a:t>
            </a:r>
            <a:endParaRPr lang="en-US" sz="14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products solve one piece of the problem, not the full experience</a:t>
            </a:r>
            <a:endParaRPr lang="en-US" sz="14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solution delivers power + conversion + cable management in one system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2026-04-06T20:42:01Z</dcterms:created>
  <dcterms:modified xsi:type="dcterms:W3CDTF">2026-04-06T20:42:01Z</dcterms:modified>
</cp:coreProperties>
</file>