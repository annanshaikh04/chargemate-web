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4630400" cy="8229600"/>
  <p:notesSz cx="8229600" cy="14630400"/>
  <p:embeddedFontLst>
    <p:embeddedFont>
      <p:font typeface="Manrope" panose="020B0604020202020204" charset="0"/>
      <p:regular r:id="rId11"/>
    </p:embeddedFont>
    <p:embeddedFont>
      <p:font typeface="Prata" panose="020B0604020202020204" charset="0"/>
      <p:regular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2CE6348-1AED-4E37-B066-EC56EA8C0EF7}" v="1" dt="2026-03-01T22:18:28.51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1" d="100"/>
          <a:sy n="91" d="100"/>
        </p:scale>
        <p:origin x="68" y="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054333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3171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12326"/>
          </a:solidFill>
          <a:ln/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317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12326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317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12326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317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12326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317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12326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317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12326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317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12326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317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12326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ec.europa.eu/commission/presscorner/detail/en/qanda_21_4614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5" Type="http://schemas.openxmlformats.org/officeDocument/2006/relationships/hyperlink" Target="https://www.pewresearch.org/internet/fact-sheet/mobile/" TargetMode="External"/><Relationship Id="rId4" Type="http://schemas.openxmlformats.org/officeDocument/2006/relationships/hyperlink" Target="https://www.census.gov/newsroom/press-releases/2024/computer-internet-use-2021.html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42" y="0"/>
            <a:ext cx="5486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280190" y="2259092"/>
            <a:ext cx="1273373" cy="373142"/>
          </a:xfrm>
          <a:prstGeom prst="roundRect">
            <a:avLst>
              <a:gd name="adj" fmla="val 6383"/>
            </a:avLst>
          </a:prstGeom>
          <a:solidFill>
            <a:srgbClr val="391F1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1"/>
          <p:cNvSpPr/>
          <p:nvPr/>
        </p:nvSpPr>
        <p:spPr>
          <a:xfrm>
            <a:off x="6399252" y="2318623"/>
            <a:ext cx="1035248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UX RESEARCH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6280190" y="2711529"/>
            <a:ext cx="7556421" cy="12401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Persona Report and Presentation</a:t>
            </a:r>
            <a:endParaRPr lang="en-US" sz="3900" dirty="0"/>
          </a:p>
        </p:txBody>
      </p:sp>
      <p:sp>
        <p:nvSpPr>
          <p:cNvPr id="6" name="Text 3"/>
          <p:cNvSpPr/>
          <p:nvPr/>
        </p:nvSpPr>
        <p:spPr>
          <a:xfrm>
            <a:off x="6280190" y="4249341"/>
            <a:ext cx="75564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 deep dive into the everyday friction of cable chaos — and the professional whose productivity depends on solving it.</a:t>
            </a:r>
            <a:endParaRPr lang="en-US" sz="1550" dirty="0"/>
          </a:p>
        </p:txBody>
      </p:sp>
      <p:sp>
        <p:nvSpPr>
          <p:cNvPr id="7" name="Shape 4"/>
          <p:cNvSpPr/>
          <p:nvPr/>
        </p:nvSpPr>
        <p:spPr>
          <a:xfrm>
            <a:off x="6280190" y="5206811"/>
            <a:ext cx="7556421" cy="32385"/>
          </a:xfrm>
          <a:prstGeom prst="rect">
            <a:avLst/>
          </a:prstGeom>
          <a:solidFill>
            <a:srgbClr val="BDA189">
              <a:alpha val="5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6280190" y="5462349"/>
            <a:ext cx="7556421" cy="508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b="1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Group:</a:t>
            </a:r>
            <a:r>
              <a:rPr lang="en-US" sz="12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Everyday Friction  |  </a:t>
            </a:r>
            <a:r>
              <a:rPr lang="en-US" sz="1250" b="1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Members:</a:t>
            </a:r>
            <a:r>
              <a:rPr lang="en-US" sz="12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Shannon Cullen, Ryan Jankowski, Rohan Pratap Reddy Ravula, Annanahmed Shaikh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697230"/>
            <a:ext cx="1291828" cy="388382"/>
          </a:xfrm>
          <a:prstGeom prst="roundRect">
            <a:avLst>
              <a:gd name="adj" fmla="val 6132"/>
            </a:avLst>
          </a:prstGeom>
          <a:noFill/>
          <a:ln w="7620">
            <a:solidFill>
              <a:srgbClr val="84482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920472" y="764381"/>
            <a:ext cx="1038463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84482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THE PROBLEM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793790" y="1164908"/>
            <a:ext cx="11435001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Never Having the Right Cable When You Need It</a:t>
            </a:r>
            <a:endParaRPr lang="en-US" sz="3900" dirty="0"/>
          </a:p>
        </p:txBody>
      </p:sp>
      <p:sp>
        <p:nvSpPr>
          <p:cNvPr id="5" name="Text 3"/>
          <p:cNvSpPr/>
          <p:nvPr/>
        </p:nvSpPr>
        <p:spPr>
          <a:xfrm>
            <a:off x="793790" y="2082641"/>
            <a:ext cx="130428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You're always one cable short — the right one is in your other bag, at home, or simply doesn't exist for the specific device combination you're trying to connect right now.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650915" y="2940963"/>
            <a:ext cx="6565106" cy="2889766"/>
          </a:xfrm>
          <a:prstGeom prst="roundRect">
            <a:avLst>
              <a:gd name="adj" fmla="val 1030"/>
            </a:avLst>
          </a:prstGeom>
          <a:solidFill>
            <a:srgbClr val="84482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849273" y="3139321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Immediate Impact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849273" y="3647837"/>
            <a:ext cx="6168390" cy="14089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Wasted time hunting, borrowing, or buying cables on the spot</a:t>
            </a:r>
            <a:endParaRPr lang="en-US" sz="1550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Dead devices during travel, meetings, or critical work moments</a:t>
            </a:r>
            <a:endParaRPr lang="en-US" sz="1550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Frustration from carrying multiple "just in case" cables that still aren't enough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7564874" y="3139321"/>
            <a:ext cx="2579608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Bigger Consequences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7564874" y="3647837"/>
            <a:ext cx="6279356" cy="21134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Repeated purchases of the same cable for different locations — car, office, home, travel bag</a:t>
            </a:r>
            <a:endParaRPr lang="en-US" sz="1550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Cable clutter and e-waste from obsolete or duplicate connectors</a:t>
            </a:r>
            <a:endParaRPr lang="en-US" sz="1550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Damaged ports from forcing wrong cables or worn-out adapters</a:t>
            </a:r>
            <a:endParaRPr lang="en-US" sz="1550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Lost productivity and professional credibility when you can't charge or present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801409" y="6324899"/>
            <a:ext cx="13042821" cy="1478280"/>
          </a:xfrm>
          <a:prstGeom prst="roundRect">
            <a:avLst>
              <a:gd name="adj" fmla="val 2014"/>
            </a:avLst>
          </a:prstGeom>
          <a:solidFill>
            <a:srgbClr val="391F1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148" y="6552311"/>
            <a:ext cx="248007" cy="198358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438513" y="6469379"/>
            <a:ext cx="12199739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The Gap:</a:t>
            </a:r>
            <a:r>
              <a:rPr lang="en-US" sz="155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Universal standards like USB-C promised to solve this, but the reality is a messy mix of Lightning, USB-A, HDMI, micro-USB, and proprietary connectors that change device-to-device. Even worse — you might </a:t>
            </a:r>
            <a:r>
              <a:rPr lang="en-US" sz="1550" i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own</a:t>
            </a:r>
            <a:r>
              <a:rPr lang="en-US" sz="155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the right cable, but it's simply not </a:t>
            </a:r>
            <a:r>
              <a:rPr lang="en-US" sz="1550" i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with you</a:t>
            </a:r>
            <a:r>
              <a:rPr lang="en-US" sz="155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when the moment strikes.</a:t>
            </a:r>
            <a:endParaRPr lang="en-US" sz="15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709851"/>
            <a:ext cx="1174313" cy="324326"/>
          </a:xfrm>
          <a:prstGeom prst="roundRect">
            <a:avLst>
              <a:gd name="adj" fmla="val 6609"/>
            </a:avLst>
          </a:prstGeom>
          <a:solidFill>
            <a:srgbClr val="391F1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900946" y="763429"/>
            <a:ext cx="960001" cy="217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1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OUR PERSONA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93790" y="1098471"/>
            <a:ext cx="5121235" cy="558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350"/>
              </a:lnSpc>
              <a:buNone/>
            </a:pPr>
            <a:r>
              <a:rPr lang="en-US" sz="350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Meet Jeffrey Carbonella</a:t>
            </a:r>
            <a:endParaRPr lang="en-US" sz="3500" dirty="0"/>
          </a:p>
        </p:txBody>
      </p:sp>
      <p:sp>
        <p:nvSpPr>
          <p:cNvPr id="5" name="Shape 3"/>
          <p:cNvSpPr/>
          <p:nvPr/>
        </p:nvSpPr>
        <p:spPr>
          <a:xfrm>
            <a:off x="665202" y="1897737"/>
            <a:ext cx="4943237" cy="4429363"/>
          </a:xfrm>
          <a:prstGeom prst="roundRect">
            <a:avLst>
              <a:gd name="adj" fmla="val 605"/>
            </a:avLst>
          </a:prstGeom>
          <a:solidFill>
            <a:srgbClr val="84482D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796" y="2078593"/>
            <a:ext cx="1317308" cy="13173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43796" y="3576757"/>
            <a:ext cx="2232779" cy="278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5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Jeffrey Carbonella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843796" y="4016454"/>
            <a:ext cx="4586049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Project Manager, National Construction Management Firm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43796" y="4704040"/>
            <a:ext cx="4586049" cy="2790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📍</a:t>
            </a:r>
            <a:r>
              <a:rPr lang="en-US" sz="14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Houston, Texas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43796" y="5127784"/>
            <a:ext cx="4586049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Devices: Laptop, personal phone, company phone, calculator, wireless earbuds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5923240" y="2042398"/>
            <a:ext cx="7920871" cy="1357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Jeffrey lives and works at the intersection of high-stakes decisions and constant mobility. He commutes to job sites, flies weekly to meet employers across the country, and manages complex timelines — all while staying connected across multiple devices. His greatest constraint isn't time or budget. It's the mental capacity required to perform at peak level in a consistently demanding environment.</a:t>
            </a:r>
            <a:endParaRPr lang="en-US" sz="140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990153" y="3586103"/>
            <a:ext cx="267891" cy="26789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503670" y="3580567"/>
            <a:ext cx="3279577" cy="5579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5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High-Accountability Professional</a:t>
            </a:r>
            <a:endParaRPr lang="en-US" sz="1750" dirty="0"/>
          </a:p>
        </p:txBody>
      </p:sp>
      <p:sp>
        <p:nvSpPr>
          <p:cNvPr id="14" name="Text 10"/>
          <p:cNvSpPr/>
          <p:nvPr/>
        </p:nvSpPr>
        <p:spPr>
          <a:xfrm>
            <a:off x="6503670" y="4299228"/>
            <a:ext cx="3279577" cy="8143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Dead laptops in meetings damage reputation. He won't let the same mistake happen twice.</a:t>
            </a:r>
            <a:endParaRPr lang="en-US" sz="1400" dirty="0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051018" y="3586103"/>
            <a:ext cx="267891" cy="267891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0564535" y="3580567"/>
            <a:ext cx="3279577" cy="5579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5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Time-Optimizer &amp; Systems Thinker</a:t>
            </a:r>
            <a:endParaRPr lang="en-US" sz="1750" dirty="0"/>
          </a:p>
        </p:txBody>
      </p:sp>
      <p:sp>
        <p:nvSpPr>
          <p:cNvPr id="17" name="Text 12"/>
          <p:cNvSpPr/>
          <p:nvPr/>
        </p:nvSpPr>
        <p:spPr>
          <a:xfrm>
            <a:off x="10564535" y="4299228"/>
            <a:ext cx="3279577" cy="8143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He eliminates recurring friction permanently rather than tolerating it repeatedly.</a:t>
            </a:r>
            <a:endParaRPr lang="en-US" sz="1400" dirty="0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990153" y="5440620"/>
            <a:ext cx="267891" cy="267891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503670" y="5435084"/>
            <a:ext cx="4144328" cy="278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5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Mentally Loaded, Performance-Driven</a:t>
            </a:r>
            <a:endParaRPr lang="en-US" sz="1750" dirty="0"/>
          </a:p>
        </p:txBody>
      </p:sp>
      <p:sp>
        <p:nvSpPr>
          <p:cNvPr id="20" name="Text 14"/>
          <p:cNvSpPr/>
          <p:nvPr/>
        </p:nvSpPr>
        <p:spPr>
          <a:xfrm>
            <a:off x="6503670" y="5874782"/>
            <a:ext cx="7340441" cy="2714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Charging anxiety is cognitive clutter. He values tools that free focus for meaningful work.</a:t>
            </a:r>
            <a:endParaRPr lang="en-US" sz="1400" dirty="0"/>
          </a:p>
        </p:txBody>
      </p:sp>
      <p:sp>
        <p:nvSpPr>
          <p:cNvPr id="21" name="Shape 15"/>
          <p:cNvSpPr/>
          <p:nvPr/>
        </p:nvSpPr>
        <p:spPr>
          <a:xfrm>
            <a:off x="793790" y="6507956"/>
            <a:ext cx="6441043" cy="1011674"/>
          </a:xfrm>
          <a:prstGeom prst="roundRect">
            <a:avLst>
              <a:gd name="adj" fmla="val 2648"/>
            </a:avLst>
          </a:prstGeom>
          <a:solidFill>
            <a:srgbClr val="40424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16"/>
          <p:cNvSpPr/>
          <p:nvPr/>
        </p:nvSpPr>
        <p:spPr>
          <a:xfrm>
            <a:off x="972383" y="6686550"/>
            <a:ext cx="2232779" cy="286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🏗️</a:t>
            </a:r>
            <a:r>
              <a:rPr lang="en-US" sz="1750" dirty="0">
                <a:solidFill>
                  <a:srgbClr val="FFFFF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 Mobile Operator</a:t>
            </a:r>
            <a:endParaRPr lang="en-US" sz="1750" dirty="0"/>
          </a:p>
        </p:txBody>
      </p:sp>
      <p:sp>
        <p:nvSpPr>
          <p:cNvPr id="23" name="Text 17"/>
          <p:cNvSpPr/>
          <p:nvPr/>
        </p:nvSpPr>
        <p:spPr>
          <a:xfrm>
            <a:off x="972383" y="7069574"/>
            <a:ext cx="6083856" cy="2714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Lean setups are operational necessities, not aesthetics.</a:t>
            </a:r>
            <a:endParaRPr lang="en-US" sz="1400" dirty="0"/>
          </a:p>
        </p:txBody>
      </p:sp>
      <p:sp>
        <p:nvSpPr>
          <p:cNvPr id="24" name="Shape 18"/>
          <p:cNvSpPr/>
          <p:nvPr/>
        </p:nvSpPr>
        <p:spPr>
          <a:xfrm>
            <a:off x="7395567" y="6507956"/>
            <a:ext cx="6441043" cy="1011674"/>
          </a:xfrm>
          <a:prstGeom prst="roundRect">
            <a:avLst>
              <a:gd name="adj" fmla="val 2648"/>
            </a:avLst>
          </a:prstGeom>
          <a:solidFill>
            <a:srgbClr val="40424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19"/>
          <p:cNvSpPr/>
          <p:nvPr/>
        </p:nvSpPr>
        <p:spPr>
          <a:xfrm>
            <a:off x="7574161" y="6686550"/>
            <a:ext cx="2412683" cy="286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⚡</a:t>
            </a:r>
            <a:r>
              <a:rPr lang="en-US" sz="1750" dirty="0">
                <a:solidFill>
                  <a:srgbClr val="FFFFF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 Momentum-Driven</a:t>
            </a:r>
            <a:endParaRPr lang="en-US" sz="1750" dirty="0"/>
          </a:p>
        </p:txBody>
      </p:sp>
      <p:sp>
        <p:nvSpPr>
          <p:cNvPr id="26" name="Text 20"/>
          <p:cNvSpPr/>
          <p:nvPr/>
        </p:nvSpPr>
        <p:spPr>
          <a:xfrm>
            <a:off x="7574161" y="7069574"/>
            <a:ext cx="6083856" cy="2714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Reliability preserves execution, performance, and reputation.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703540"/>
            <a:ext cx="1152168" cy="316230"/>
          </a:xfrm>
          <a:prstGeom prst="roundRect">
            <a:avLst>
              <a:gd name="adj" fmla="val 6402"/>
            </a:avLst>
          </a:prstGeom>
          <a:noFill/>
          <a:ln w="7620">
            <a:solidFill>
              <a:srgbClr val="84482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902613" y="761762"/>
            <a:ext cx="934522" cy="1997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050" dirty="0">
                <a:solidFill>
                  <a:srgbClr val="84482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DAY IN THE LIFE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93790" y="1077039"/>
            <a:ext cx="4217551" cy="527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50"/>
              </a:lnSpc>
              <a:buNone/>
            </a:pPr>
            <a:r>
              <a:rPr lang="en-US" sz="330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A Day With Jeffrey</a:t>
            </a:r>
            <a:endParaRPr lang="en-US" sz="3300" dirty="0"/>
          </a:p>
        </p:txBody>
      </p:sp>
      <p:sp>
        <p:nvSpPr>
          <p:cNvPr id="5" name="Shape 3"/>
          <p:cNvSpPr/>
          <p:nvPr/>
        </p:nvSpPr>
        <p:spPr>
          <a:xfrm>
            <a:off x="7303770" y="1819156"/>
            <a:ext cx="22860" cy="4063246"/>
          </a:xfrm>
          <a:prstGeom prst="roundRect">
            <a:avLst>
              <a:gd name="adj" fmla="val 110698"/>
            </a:avLst>
          </a:prstGeom>
          <a:solidFill>
            <a:srgbClr val="595B5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6642259" y="1997512"/>
            <a:ext cx="506016" cy="22860"/>
          </a:xfrm>
          <a:prstGeom prst="roundRect">
            <a:avLst>
              <a:gd name="adj" fmla="val 110698"/>
            </a:avLst>
          </a:prstGeom>
          <a:solidFill>
            <a:srgbClr val="595B5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7125414" y="1819156"/>
            <a:ext cx="379571" cy="379571"/>
          </a:xfrm>
          <a:prstGeom prst="roundRect">
            <a:avLst>
              <a:gd name="adj" fmla="val 6667"/>
            </a:avLst>
          </a:prstGeom>
          <a:solidFill>
            <a:srgbClr val="40424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7188696" y="1850827"/>
            <a:ext cx="253008" cy="316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950"/>
              </a:lnSpc>
              <a:buNone/>
            </a:pPr>
            <a:r>
              <a:rPr lang="en-US" sz="1950" dirty="0">
                <a:solidFill>
                  <a:srgbClr val="FFFFF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1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4363045" y="1877139"/>
            <a:ext cx="2108716" cy="263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050"/>
              </a:lnSpc>
              <a:buNone/>
            </a:pPr>
            <a:r>
              <a:rPr lang="en-US" sz="165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Before Sunrise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793790" y="2226588"/>
            <a:ext cx="5677972" cy="4993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950"/>
              </a:lnSpc>
              <a:buNone/>
            </a:pPr>
            <a:r>
              <a:rPr lang="en-US" sz="13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Scanning overnight emails, preparing for the day ahead before heading to the job site.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482126" y="2958941"/>
            <a:ext cx="506016" cy="22860"/>
          </a:xfrm>
          <a:prstGeom prst="roundRect">
            <a:avLst>
              <a:gd name="adj" fmla="val 110698"/>
            </a:avLst>
          </a:prstGeom>
          <a:solidFill>
            <a:srgbClr val="595B5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7125414" y="2780586"/>
            <a:ext cx="379571" cy="379571"/>
          </a:xfrm>
          <a:prstGeom prst="roundRect">
            <a:avLst>
              <a:gd name="adj" fmla="val 6667"/>
            </a:avLst>
          </a:prstGeom>
          <a:solidFill>
            <a:srgbClr val="40424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7188696" y="2812256"/>
            <a:ext cx="253008" cy="316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950"/>
              </a:lnSpc>
              <a:buNone/>
            </a:pPr>
            <a:r>
              <a:rPr lang="en-US" sz="1950" dirty="0">
                <a:solidFill>
                  <a:srgbClr val="FFFFF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2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8158639" y="2838569"/>
            <a:ext cx="2497098" cy="263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8:00 AM — Site Meeting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8158639" y="3188018"/>
            <a:ext cx="5677972" cy="7490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Laptop open, phones buzzing. A subcontractor requests to review drawings on screen. Jeffrey reaches for his charger — wrong cable. The room waits. Five minutes lost. Small lapse, big embarrassment.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642259" y="3806071"/>
            <a:ext cx="506016" cy="22860"/>
          </a:xfrm>
          <a:prstGeom prst="roundRect">
            <a:avLst>
              <a:gd name="adj" fmla="val 110698"/>
            </a:avLst>
          </a:prstGeom>
          <a:solidFill>
            <a:srgbClr val="595B5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7125414" y="3627715"/>
            <a:ext cx="379571" cy="379571"/>
          </a:xfrm>
          <a:prstGeom prst="roundRect">
            <a:avLst>
              <a:gd name="adj" fmla="val 6667"/>
            </a:avLst>
          </a:prstGeom>
          <a:solidFill>
            <a:srgbClr val="40424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7188696" y="3659386"/>
            <a:ext cx="253008" cy="316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950"/>
              </a:lnSpc>
              <a:buNone/>
            </a:pPr>
            <a:r>
              <a:rPr lang="en-US" sz="1950" dirty="0">
                <a:solidFill>
                  <a:srgbClr val="FFFFF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3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4363045" y="3685699"/>
            <a:ext cx="2108716" cy="263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050"/>
              </a:lnSpc>
              <a:buNone/>
            </a:pPr>
            <a:r>
              <a:rPr lang="en-US" sz="165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Noon — Airport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793790" y="4035147"/>
            <a:ext cx="5677972" cy="7490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950"/>
              </a:lnSpc>
              <a:buNone/>
            </a:pPr>
            <a:r>
              <a:rPr lang="en-US" sz="13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Company phone dips below 10%. He packed a charger — just not the right cable for this device. Two hours offline isn't downtime; it's lost momentum.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482126" y="4653201"/>
            <a:ext cx="506016" cy="22860"/>
          </a:xfrm>
          <a:prstGeom prst="roundRect">
            <a:avLst>
              <a:gd name="adj" fmla="val 110698"/>
            </a:avLst>
          </a:prstGeom>
          <a:solidFill>
            <a:srgbClr val="595B5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7125414" y="4474845"/>
            <a:ext cx="379571" cy="379571"/>
          </a:xfrm>
          <a:prstGeom prst="roundRect">
            <a:avLst>
              <a:gd name="adj" fmla="val 6667"/>
            </a:avLst>
          </a:prstGeom>
          <a:solidFill>
            <a:srgbClr val="40424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7188696" y="4506516"/>
            <a:ext cx="253008" cy="316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950"/>
              </a:lnSpc>
              <a:buNone/>
            </a:pPr>
            <a:r>
              <a:rPr lang="en-US" sz="1950" dirty="0">
                <a:solidFill>
                  <a:srgbClr val="FFFFF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4</a:t>
            </a:r>
            <a:endParaRPr lang="en-US" sz="1950" dirty="0"/>
          </a:p>
        </p:txBody>
      </p:sp>
      <p:sp>
        <p:nvSpPr>
          <p:cNvPr id="24" name="Text 22"/>
          <p:cNvSpPr/>
          <p:nvPr/>
        </p:nvSpPr>
        <p:spPr>
          <a:xfrm>
            <a:off x="8158639" y="4532828"/>
            <a:ext cx="2108716" cy="263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Evening — Hotel</a:t>
            </a:r>
            <a:endParaRPr lang="en-US" sz="1650" dirty="0"/>
          </a:p>
        </p:txBody>
      </p:sp>
      <p:sp>
        <p:nvSpPr>
          <p:cNvPr id="25" name="Text 23"/>
          <p:cNvSpPr/>
          <p:nvPr/>
        </p:nvSpPr>
        <p:spPr>
          <a:xfrm>
            <a:off x="8158639" y="4882277"/>
            <a:ext cx="5677972" cy="4993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Preparing for a client presentation. Earbuds die mid-call. Different cable. Same frustration. Again.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046798" y="6204823"/>
            <a:ext cx="12789813" cy="4993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For a man who optimizes everything, the wrong cable isn't mere inconvenience — it's friction, distraction, and a direct threat to the reliability his reputation depends on.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793790" y="6043613"/>
            <a:ext cx="22860" cy="821769"/>
          </a:xfrm>
          <a:prstGeom prst="rect">
            <a:avLst/>
          </a:prstGeom>
          <a:solidFill>
            <a:srgbClr val="84482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793790" y="7026593"/>
            <a:ext cx="13042821" cy="4993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Jeffrey represents a wide variety of consumers who share this pain point — America's executive and corporate professionals on the go, devices needed at the ready, with constant pressure to be prepared.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723067"/>
            <a:ext cx="1517571" cy="348377"/>
          </a:xfrm>
          <a:prstGeom prst="roundRect">
            <a:avLst>
              <a:gd name="adj" fmla="val 6495"/>
            </a:avLst>
          </a:prstGeom>
          <a:solidFill>
            <a:srgbClr val="391F1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906899" y="779621"/>
            <a:ext cx="1291352" cy="235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MARKET CONTEXT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793790" y="1143000"/>
            <a:ext cx="4713684" cy="5891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600"/>
              </a:lnSpc>
              <a:buNone/>
            </a:pPr>
            <a:r>
              <a:rPr lang="en-US" sz="370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Market Snapshot</a:t>
            </a:r>
            <a:endParaRPr lang="en-US" sz="3700" dirty="0"/>
          </a:p>
        </p:txBody>
      </p:sp>
      <p:sp>
        <p:nvSpPr>
          <p:cNvPr id="5" name="Text 3"/>
          <p:cNvSpPr/>
          <p:nvPr/>
        </p:nvSpPr>
        <p:spPr>
          <a:xfrm>
            <a:off x="793790" y="2000726"/>
            <a:ext cx="13042821" cy="5884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The scale of this problem is vast. Virtually every American carries a device — and the majority carry several. The charging cable problem isn't a niche inconvenience; it's a universal daily friction point affecting hundreds of millions of people.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898803" y="2884765"/>
            <a:ext cx="3988356" cy="6221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850"/>
              </a:lnSpc>
              <a:buNone/>
            </a:pPr>
            <a:r>
              <a:rPr lang="en-US" sz="485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98%</a:t>
            </a:r>
            <a:endParaRPr lang="en-US" sz="4850" dirty="0"/>
          </a:p>
        </p:txBody>
      </p:sp>
      <p:sp>
        <p:nvSpPr>
          <p:cNvPr id="7" name="Text 5"/>
          <p:cNvSpPr/>
          <p:nvPr/>
        </p:nvSpPr>
        <p:spPr>
          <a:xfrm>
            <a:off x="1714500" y="3735348"/>
            <a:ext cx="2356842" cy="294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185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Own a Cellphone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793790" y="4137422"/>
            <a:ext cx="4198382" cy="882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14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As of 2023, nearly all Americans own a cell phone, with 91% owning a smartphone — up from just 35% in 2011. (Pew Research)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5321022" y="2884765"/>
            <a:ext cx="3988356" cy="6221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850"/>
              </a:lnSpc>
              <a:buNone/>
            </a:pPr>
            <a:r>
              <a:rPr lang="en-US" sz="485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81%</a:t>
            </a:r>
            <a:endParaRPr lang="en-US" sz="4850" dirty="0"/>
          </a:p>
        </p:txBody>
      </p:sp>
      <p:sp>
        <p:nvSpPr>
          <p:cNvPr id="10" name="Text 8"/>
          <p:cNvSpPr/>
          <p:nvPr/>
        </p:nvSpPr>
        <p:spPr>
          <a:xfrm>
            <a:off x="6136719" y="3735348"/>
            <a:ext cx="2356842" cy="294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185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Have a Computer</a:t>
            </a:r>
            <a:endParaRPr lang="en-US" sz="1850" dirty="0"/>
          </a:p>
        </p:txBody>
      </p:sp>
      <p:sp>
        <p:nvSpPr>
          <p:cNvPr id="11" name="Text 9"/>
          <p:cNvSpPr/>
          <p:nvPr/>
        </p:nvSpPr>
        <p:spPr>
          <a:xfrm>
            <a:off x="5216009" y="4137422"/>
            <a:ext cx="4198382" cy="11768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14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81% of U.S. households owned a desktop or laptop as of 2021, meaning most people manage multiple devices simultaneously. (US Census Bureau)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9743242" y="2884765"/>
            <a:ext cx="3988356" cy="6221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850"/>
              </a:lnSpc>
              <a:buNone/>
            </a:pPr>
            <a:r>
              <a:rPr lang="en-US" sz="485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62%</a:t>
            </a:r>
            <a:endParaRPr lang="en-US" sz="4850" dirty="0"/>
          </a:p>
        </p:txBody>
      </p:sp>
      <p:sp>
        <p:nvSpPr>
          <p:cNvPr id="13" name="Text 11"/>
          <p:cNvSpPr/>
          <p:nvPr/>
        </p:nvSpPr>
        <p:spPr>
          <a:xfrm>
            <a:off x="10558939" y="3735348"/>
            <a:ext cx="2356842" cy="294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185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Own a Tablet</a:t>
            </a:r>
            <a:endParaRPr lang="en-US" sz="1850" dirty="0"/>
          </a:p>
        </p:txBody>
      </p:sp>
      <p:sp>
        <p:nvSpPr>
          <p:cNvPr id="14" name="Text 12"/>
          <p:cNvSpPr/>
          <p:nvPr/>
        </p:nvSpPr>
        <p:spPr>
          <a:xfrm>
            <a:off x="9638228" y="4137422"/>
            <a:ext cx="4198382" cy="882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14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62% of U.S. households also owned a tablet, further multiplying the number of connectors and cables required per person.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657939" y="5515689"/>
            <a:ext cx="6563082" cy="1990844"/>
          </a:xfrm>
          <a:prstGeom prst="roundRect">
            <a:avLst>
              <a:gd name="adj" fmla="val 1421"/>
            </a:avLst>
          </a:prstGeom>
          <a:solidFill>
            <a:srgbClr val="84482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846415" y="5694759"/>
            <a:ext cx="3371374" cy="294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Strategic Investors &amp; Partners</a:t>
            </a:r>
            <a:endParaRPr lang="en-US" sz="1850" dirty="0"/>
          </a:p>
        </p:txBody>
      </p:sp>
      <p:sp>
        <p:nvSpPr>
          <p:cNvPr id="17" name="Text 15"/>
          <p:cNvSpPr/>
          <p:nvPr/>
        </p:nvSpPr>
        <p:spPr>
          <a:xfrm>
            <a:off x="846415" y="6168509"/>
            <a:ext cx="6186130" cy="882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Companies like </a:t>
            </a:r>
            <a:r>
              <a:rPr lang="en-US" sz="145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Google, Apple, Amazon, HP, Samsung,</a:t>
            </a:r>
            <a:r>
              <a:rPr lang="en-US" sz="145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and </a:t>
            </a:r>
            <a:r>
              <a:rPr lang="en-US" sz="145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Dell</a:t>
            </a:r>
            <a:r>
              <a:rPr lang="en-US" sz="145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have enormous incentive to support a solution — fixing a problem their own users experience daily directly boosts loyalty, reputation, and revenue.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7552849" y="5694759"/>
            <a:ext cx="3304223" cy="294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The Real Cost of the Problem</a:t>
            </a:r>
            <a:endParaRPr lang="en-US" sz="1850" dirty="0"/>
          </a:p>
        </p:txBody>
      </p:sp>
      <p:sp>
        <p:nvSpPr>
          <p:cNvPr id="19" name="Text 17"/>
          <p:cNvSpPr/>
          <p:nvPr/>
        </p:nvSpPr>
        <p:spPr>
          <a:xfrm>
            <a:off x="7552849" y="6168509"/>
            <a:ext cx="6291382" cy="11768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Not having the right charger means emergency purchases, wasted time, and cognitive burden. Multiply that across millions of professionals and the aggregate cost — in dollars, hours, and frustration — is staggering. The market opportunity is equally large.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737235"/>
            <a:ext cx="1590199" cy="339566"/>
          </a:xfrm>
          <a:prstGeom prst="roundRect">
            <a:avLst>
              <a:gd name="adj" fmla="val 6313"/>
            </a:avLst>
          </a:prstGeom>
          <a:noFill/>
          <a:ln w="7620">
            <a:solidFill>
              <a:srgbClr val="84482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908566" y="798433"/>
            <a:ext cx="1360646" cy="217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100" dirty="0">
                <a:solidFill>
                  <a:srgbClr val="84482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VALUE PROPOSITION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93790" y="1141095"/>
            <a:ext cx="7254478" cy="558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350"/>
              </a:lnSpc>
              <a:buNone/>
            </a:pPr>
            <a:r>
              <a:rPr lang="en-US" sz="350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What a Solution Means for Jeffrey</a:t>
            </a:r>
            <a:endParaRPr lang="en-US" sz="3500" dirty="0"/>
          </a:p>
        </p:txBody>
      </p:sp>
      <p:sp>
        <p:nvSpPr>
          <p:cNvPr id="5" name="Text 3"/>
          <p:cNvSpPr/>
          <p:nvPr/>
        </p:nvSpPr>
        <p:spPr>
          <a:xfrm>
            <a:off x="793790" y="1940362"/>
            <a:ext cx="13042821" cy="2714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The right solution doesn't just solve a technical problem — it gives Jeffrey back his confidence, his time, and his mental clarity. Here's what's genuinely at stake: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93790" y="2392680"/>
            <a:ext cx="6441043" cy="1592699"/>
          </a:xfrm>
          <a:prstGeom prst="roundRect">
            <a:avLst>
              <a:gd name="adj" fmla="val 6889"/>
            </a:avLst>
          </a:prstGeom>
          <a:solidFill>
            <a:srgbClr val="212326"/>
          </a:solidFill>
          <a:ln w="22860">
            <a:solidFill>
              <a:srgbClr val="595B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770930" y="2392680"/>
            <a:ext cx="91440" cy="1592699"/>
          </a:xfrm>
          <a:prstGeom prst="roundRect">
            <a:avLst>
              <a:gd name="adj" fmla="val 29302"/>
            </a:avLst>
          </a:prstGeom>
          <a:solidFill>
            <a:srgbClr val="84482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1063823" y="2594134"/>
            <a:ext cx="3635812" cy="278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5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Restored Professional Confidence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1063823" y="2969538"/>
            <a:ext cx="5969556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Never starting a meeting with an apology for a dead laptop or missing dongle. Maintaining a rock-solid "prepared for anything" reputation.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395567" y="2392680"/>
            <a:ext cx="6441043" cy="1592699"/>
          </a:xfrm>
          <a:prstGeom prst="roundRect">
            <a:avLst>
              <a:gd name="adj" fmla="val 6889"/>
            </a:avLst>
          </a:prstGeom>
          <a:solidFill>
            <a:srgbClr val="212326"/>
          </a:solidFill>
          <a:ln w="22860">
            <a:solidFill>
              <a:srgbClr val="595B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7372707" y="2392680"/>
            <a:ext cx="91440" cy="1592699"/>
          </a:xfrm>
          <a:prstGeom prst="roundRect">
            <a:avLst>
              <a:gd name="adj" fmla="val 29302"/>
            </a:avLst>
          </a:prstGeom>
          <a:solidFill>
            <a:srgbClr val="84482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7665601" y="2594134"/>
            <a:ext cx="2391847" cy="278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5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Reclaimed "Lost" Time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7665601" y="2969538"/>
            <a:ext cx="5969556" cy="8143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Saving an estimated </a:t>
            </a:r>
            <a:r>
              <a:rPr lang="en-US" sz="1400" b="1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2–3 hours per month</a:t>
            </a:r>
            <a:r>
              <a:rPr lang="en-US" sz="14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previously spent hunting for cables, untangling drawers, or making emergency trips to buy overpriced replacements.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93790" y="4146113"/>
            <a:ext cx="6441043" cy="1592699"/>
          </a:xfrm>
          <a:prstGeom prst="roundRect">
            <a:avLst>
              <a:gd name="adj" fmla="val 6889"/>
            </a:avLst>
          </a:prstGeom>
          <a:solidFill>
            <a:srgbClr val="212326"/>
          </a:solidFill>
          <a:ln w="22860">
            <a:solidFill>
              <a:srgbClr val="595B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770930" y="4146113"/>
            <a:ext cx="91440" cy="1592699"/>
          </a:xfrm>
          <a:prstGeom prst="roundRect">
            <a:avLst>
              <a:gd name="adj" fmla="val 29302"/>
            </a:avLst>
          </a:prstGeom>
          <a:solidFill>
            <a:srgbClr val="84482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1063823" y="4347567"/>
            <a:ext cx="2232779" cy="278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5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Mental Decoupling</a:t>
            </a:r>
            <a:endParaRPr lang="en-US" sz="1750" dirty="0"/>
          </a:p>
        </p:txBody>
      </p:sp>
      <p:sp>
        <p:nvSpPr>
          <p:cNvPr id="17" name="Text 15"/>
          <p:cNvSpPr/>
          <p:nvPr/>
        </p:nvSpPr>
        <p:spPr>
          <a:xfrm>
            <a:off x="1063823" y="4722971"/>
            <a:ext cx="5969556" cy="8143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Eliminating the "charging anxiety" checklist before leaving the house — freeing cognitive space for work and family instead of inventory management.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395567" y="4146113"/>
            <a:ext cx="6441043" cy="1592699"/>
          </a:xfrm>
          <a:prstGeom prst="roundRect">
            <a:avLst>
              <a:gd name="adj" fmla="val 6889"/>
            </a:avLst>
          </a:prstGeom>
          <a:solidFill>
            <a:srgbClr val="212326"/>
          </a:solidFill>
          <a:ln w="22860">
            <a:solidFill>
              <a:srgbClr val="595B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7372707" y="4146113"/>
            <a:ext cx="91440" cy="1592699"/>
          </a:xfrm>
          <a:prstGeom prst="roundRect">
            <a:avLst>
              <a:gd name="adj" fmla="val 29302"/>
            </a:avLst>
          </a:prstGeom>
          <a:solidFill>
            <a:srgbClr val="84482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7665601" y="4347567"/>
            <a:ext cx="2232779" cy="278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5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Optimized Mobility</a:t>
            </a:r>
            <a:endParaRPr lang="en-US" sz="1750" dirty="0"/>
          </a:p>
        </p:txBody>
      </p:sp>
      <p:sp>
        <p:nvSpPr>
          <p:cNvPr id="21" name="Text 19"/>
          <p:cNvSpPr/>
          <p:nvPr/>
        </p:nvSpPr>
        <p:spPr>
          <a:xfrm>
            <a:off x="7665601" y="4722971"/>
            <a:ext cx="5969556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Reducing daily carry weight and bag clutter by </a:t>
            </a:r>
            <a:r>
              <a:rPr lang="en-US" sz="1400" b="1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60% or more</a:t>
            </a:r>
            <a:r>
              <a:rPr lang="en-US" sz="14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, enabling a truly lean, one-bag commute without fear of being stranded.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93790" y="5899547"/>
            <a:ext cx="6441043" cy="1592699"/>
          </a:xfrm>
          <a:prstGeom prst="roundRect">
            <a:avLst>
              <a:gd name="adj" fmla="val 6889"/>
            </a:avLst>
          </a:prstGeom>
          <a:solidFill>
            <a:srgbClr val="212326"/>
          </a:solidFill>
          <a:ln w="22860">
            <a:solidFill>
              <a:srgbClr val="595B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770930" y="5899547"/>
            <a:ext cx="91440" cy="1592699"/>
          </a:xfrm>
          <a:prstGeom prst="roundRect">
            <a:avLst>
              <a:gd name="adj" fmla="val 29302"/>
            </a:avLst>
          </a:prstGeom>
          <a:solidFill>
            <a:srgbClr val="84482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1063823" y="6101001"/>
            <a:ext cx="4287679" cy="278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5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Financial &amp; Environmental Stewardship</a:t>
            </a:r>
            <a:endParaRPr lang="en-US" sz="1750" dirty="0"/>
          </a:p>
        </p:txBody>
      </p:sp>
      <p:sp>
        <p:nvSpPr>
          <p:cNvPr id="25" name="Text 23"/>
          <p:cNvSpPr/>
          <p:nvPr/>
        </p:nvSpPr>
        <p:spPr>
          <a:xfrm>
            <a:off x="1063823" y="6476405"/>
            <a:ext cx="5969556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Stopping the cycle of panic-buying duplicate $30 cables and reducing personal e-waste from broken or obsolete proprietary connectors.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7395567" y="5899547"/>
            <a:ext cx="6441043" cy="1592699"/>
          </a:xfrm>
          <a:prstGeom prst="roundRect">
            <a:avLst>
              <a:gd name="adj" fmla="val 6889"/>
            </a:avLst>
          </a:prstGeom>
          <a:solidFill>
            <a:srgbClr val="212326"/>
          </a:solidFill>
          <a:ln w="22860">
            <a:solidFill>
              <a:srgbClr val="595B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7372707" y="5899547"/>
            <a:ext cx="91440" cy="1592699"/>
          </a:xfrm>
          <a:prstGeom prst="roundRect">
            <a:avLst>
              <a:gd name="adj" fmla="val 29302"/>
            </a:avLst>
          </a:prstGeom>
          <a:solidFill>
            <a:srgbClr val="84482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7665601" y="6101001"/>
            <a:ext cx="2906911" cy="278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5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Uninterrupted Productivity</a:t>
            </a:r>
            <a:endParaRPr lang="en-US" sz="1750" dirty="0"/>
          </a:p>
        </p:txBody>
      </p:sp>
      <p:sp>
        <p:nvSpPr>
          <p:cNvPr id="29" name="Text 27"/>
          <p:cNvSpPr/>
          <p:nvPr/>
        </p:nvSpPr>
        <p:spPr>
          <a:xfrm>
            <a:off x="7665601" y="6476405"/>
            <a:ext cx="5969556" cy="8143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Ensuring critical workflows — 11th-hour project edits, long-distance travel — are never throttled by a </a:t>
            </a:r>
            <a:r>
              <a:rPr lang="en-US" sz="1400" b="1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0% battery</a:t>
            </a:r>
            <a:r>
              <a:rPr lang="en-US" sz="14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warning at the worst possible moment.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1548646"/>
            <a:ext cx="973693" cy="388382"/>
          </a:xfrm>
          <a:prstGeom prst="roundRect">
            <a:avLst>
              <a:gd name="adj" fmla="val 6132"/>
            </a:avLst>
          </a:prstGeom>
          <a:noFill/>
          <a:ln w="7620">
            <a:solidFill>
              <a:srgbClr val="84482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920472" y="1615797"/>
            <a:ext cx="720328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84482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SOURCES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793790" y="2016323"/>
            <a:ext cx="5805368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Resources &amp; References</a:t>
            </a:r>
            <a:endParaRPr lang="en-US" sz="3900" dirty="0"/>
          </a:p>
        </p:txBody>
      </p:sp>
      <p:sp>
        <p:nvSpPr>
          <p:cNvPr id="5" name="Text 3"/>
          <p:cNvSpPr/>
          <p:nvPr/>
        </p:nvSpPr>
        <p:spPr>
          <a:xfrm>
            <a:off x="793790" y="2934057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The following sources informed our research into device ownership, market sizing, and the push toward universal charging standards: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793790" y="3474839"/>
            <a:ext cx="4215289" cy="3206115"/>
          </a:xfrm>
          <a:prstGeom prst="roundRect">
            <a:avLst>
              <a:gd name="adj" fmla="val 929"/>
            </a:avLst>
          </a:prstGeom>
          <a:solidFill>
            <a:srgbClr val="212326"/>
          </a:solidFill>
          <a:ln w="22860">
            <a:solidFill>
              <a:srgbClr val="595B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1015008" y="3696057"/>
            <a:ext cx="3772853" cy="620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European Commission — Common Charger Mandate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1015008" y="4435435"/>
            <a:ext cx="3772853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Questions and Answers: Common charger solution for electronic devices. Press Release, Brussels, Belgium, Oct. 4, 2022.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1015008" y="5824657"/>
            <a:ext cx="3772853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u="sng" dirty="0">
                <a:solidFill>
                  <a:srgbClr val="84482D"/>
                </a:solidFill>
                <a:latin typeface="Manrope" pitchFamily="34" charset="0"/>
                <a:ea typeface="Manrope" pitchFamily="34" charset="-122"/>
                <a:cs typeface="Manrope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ec.europa.eu — Common Charger Q&amp;A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5207437" y="3474839"/>
            <a:ext cx="4215408" cy="3206115"/>
          </a:xfrm>
          <a:prstGeom prst="roundRect">
            <a:avLst>
              <a:gd name="adj" fmla="val 929"/>
            </a:avLst>
          </a:prstGeom>
          <a:solidFill>
            <a:srgbClr val="212326"/>
          </a:solidFill>
          <a:ln w="22860">
            <a:solidFill>
              <a:srgbClr val="595B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5428655" y="3696057"/>
            <a:ext cx="3772972" cy="620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U.S. Census Bureau — Computer &amp; Internet Use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5428655" y="4435435"/>
            <a:ext cx="3772972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Computer and Internet Use in the United States: 2021. Press Release, 2024. Covers household ownership of desktops, laptops, and tablets nationwide.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5428655" y="5983427"/>
            <a:ext cx="3772972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u="sng" dirty="0">
                <a:solidFill>
                  <a:srgbClr val="84482D"/>
                </a:solidFill>
                <a:latin typeface="Manrope" pitchFamily="34" charset="0"/>
                <a:ea typeface="Manrope" pitchFamily="34" charset="-122"/>
                <a:cs typeface="Manrope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census.gov — Computer Internet Use 2021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9621203" y="3474839"/>
            <a:ext cx="4215289" cy="3206115"/>
          </a:xfrm>
          <a:prstGeom prst="roundRect">
            <a:avLst>
              <a:gd name="adj" fmla="val 929"/>
            </a:avLst>
          </a:prstGeom>
          <a:solidFill>
            <a:srgbClr val="212326"/>
          </a:solidFill>
          <a:ln w="22860">
            <a:solidFill>
              <a:srgbClr val="595B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9842421" y="3696057"/>
            <a:ext cx="3772853" cy="620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Pew Research Center — Mobile Fact Sheet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9842421" y="4435435"/>
            <a:ext cx="3772853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Mobile device ownership trends from 2011 to 2023, including the dramatic rise in smartphone adoption across American adults.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9842421" y="5824657"/>
            <a:ext cx="3772853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u="sng" dirty="0">
                <a:solidFill>
                  <a:srgbClr val="84482D"/>
                </a:solidFill>
                <a:latin typeface="Manrope" pitchFamily="34" charset="0"/>
                <a:ea typeface="Manrope" pitchFamily="34" charset="-122"/>
                <a:cs typeface="Manrope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pewresearch.org — Mobile Fact Sheet</a:t>
            </a:r>
            <a:endParaRPr lang="en-US" sz="15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359938"/>
            <a:ext cx="6847284" cy="8558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700"/>
              </a:lnSpc>
              <a:buNone/>
            </a:pPr>
            <a:r>
              <a:rPr lang="en-US" sz="535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Thank You</a:t>
            </a:r>
            <a:endParaRPr lang="en-US" sz="5350" dirty="0"/>
          </a:p>
        </p:txBody>
      </p:sp>
      <p:sp>
        <p:nvSpPr>
          <p:cNvPr id="4" name="Text 1"/>
          <p:cNvSpPr/>
          <p:nvPr/>
        </p:nvSpPr>
        <p:spPr>
          <a:xfrm>
            <a:off x="6280190" y="3513415"/>
            <a:ext cx="7556421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We appreciate your time and attention. The everyday friction of cable chaos may seem minor in isolation — but for professionals like Jeffrey, it represents a meaningful opportunity to design solutions that restore confidence, reclaim time, and reduce cognitive load.</a:t>
            </a:r>
            <a:endParaRPr lang="en-US" sz="1550" dirty="0"/>
          </a:p>
        </p:txBody>
      </p:sp>
      <p:sp>
        <p:nvSpPr>
          <p:cNvPr id="5" name="Shape 2"/>
          <p:cNvSpPr/>
          <p:nvPr/>
        </p:nvSpPr>
        <p:spPr>
          <a:xfrm>
            <a:off x="6280190" y="5105965"/>
            <a:ext cx="7556421" cy="32385"/>
          </a:xfrm>
          <a:prstGeom prst="rect">
            <a:avLst/>
          </a:prstGeom>
          <a:solidFill>
            <a:srgbClr val="BDA189">
              <a:alpha val="5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3"/>
          <p:cNvSpPr/>
          <p:nvPr/>
        </p:nvSpPr>
        <p:spPr>
          <a:xfrm>
            <a:off x="6280190" y="5361503"/>
            <a:ext cx="7556421" cy="508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b="1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Group:</a:t>
            </a:r>
            <a:r>
              <a:rPr lang="en-US" sz="12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Everyday Friction  |  Shannon Cullen · Ryan Jankowski · Rohan Pratap Reddy Ravula · Annanahmed Shaikh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1268</Words>
  <Application>Microsoft Office PowerPoint</Application>
  <PresentationFormat>Custom</PresentationFormat>
  <Paragraphs>104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Manrope</vt:lpstr>
      <vt:lpstr>Prata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SHAIKH ANNANAHMED</dc:creator>
  <cp:lastModifiedBy>Shaikh, Annanahmed Furkanahmed</cp:lastModifiedBy>
  <cp:revision>3</cp:revision>
  <dcterms:created xsi:type="dcterms:W3CDTF">2026-03-01T22:09:05Z</dcterms:created>
  <dcterms:modified xsi:type="dcterms:W3CDTF">2026-03-01T22:18:28Z</dcterms:modified>
</cp:coreProperties>
</file>