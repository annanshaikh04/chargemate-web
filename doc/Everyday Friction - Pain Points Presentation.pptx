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66" r:id="rId5"/>
    <p:sldId id="267" r:id="rId6"/>
    <p:sldId id="268" r:id="rId7"/>
    <p:sldId id="269" r:id="rId8"/>
    <p:sldId id="273"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C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070555-1ADC-E4BF-A769-9056DEAFE353}" v="436" dt="2026-02-09T21:28:41.234"/>
    <p1510:client id="{3532DBFA-716D-CF38-F1F8-05CA9AE2509E}" v="34" dt="2026-02-09T19:04:57.939"/>
    <p1510:client id="{592054A0-9D2B-F3FA-B6F3-3517C1A4203A}" v="523" dt="2026-02-09T20:44:32.640"/>
    <p1510:client id="{84D8D8EF-79E6-1DE9-2EE3-5BC7EDDFD6D3}" v="370" dt="2026-02-09T03:33:29.271"/>
    <p1510:client id="{BB00BB64-A932-4684-A52A-D913545DA3C2}" v="569" dt="2026-02-09T03:09:56.421"/>
    <p1510:client id="{C7365CA9-75C3-5061-8AC5-069D588CD034}" v="141" dt="2026-02-09T19:16:08.651"/>
    <p1510:client id="{E6AD7F1A-E07E-1C76-B467-4867EDB344B7}" v="30" dt="2026-02-09T03:09:08.420"/>
    <p1510:client id="{E8DF11B3-D993-C746-7795-9B6D52BBD1D2}" v="232" dt="2026-02-09T22:24:08.212"/>
    <p1510:client id="{ECBF60EA-AC2B-E58B-9B2C-B11DE9A017D5}" v="1878" dt="2026-02-09T19:13:45.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5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A63308-413F-4544-B7BC-68A34CBFF8D9}"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3AD65-C786-44B8-B520-5BEDC04DF5FD}" type="slidenum">
              <a:rPr lang="en-US" smtClean="0"/>
              <a:t>‹#›</a:t>
            </a:fld>
            <a:endParaRPr lang="en-US"/>
          </a:p>
        </p:txBody>
      </p:sp>
    </p:spTree>
    <p:extLst>
      <p:ext uri="{BB962C8B-B14F-4D97-AF65-F5344CB8AC3E}">
        <p14:creationId xmlns:p14="http://schemas.microsoft.com/office/powerpoint/2010/main" val="221639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Annan</a:t>
            </a:r>
          </a:p>
        </p:txBody>
      </p:sp>
      <p:sp>
        <p:nvSpPr>
          <p:cNvPr id="4" name="Slide Number Placeholder 3"/>
          <p:cNvSpPr>
            <a:spLocks noGrp="1"/>
          </p:cNvSpPr>
          <p:nvPr>
            <p:ph type="sldNum" sz="quarter" idx="5"/>
          </p:nvPr>
        </p:nvSpPr>
        <p:spPr/>
        <p:txBody>
          <a:bodyPr/>
          <a:lstStyle/>
          <a:p>
            <a:fld id="{A753AD65-C786-44B8-B520-5BEDC04DF5FD}" type="slidenum">
              <a:rPr lang="en-US" smtClean="0"/>
              <a:t>2</a:t>
            </a:fld>
            <a:endParaRPr lang="en-US"/>
          </a:p>
        </p:txBody>
      </p:sp>
    </p:spTree>
    <p:extLst>
      <p:ext uri="{BB962C8B-B14F-4D97-AF65-F5344CB8AC3E}">
        <p14:creationId xmlns:p14="http://schemas.microsoft.com/office/powerpoint/2010/main" val="2636378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Rohan</a:t>
            </a:r>
          </a:p>
        </p:txBody>
      </p:sp>
      <p:sp>
        <p:nvSpPr>
          <p:cNvPr id="4" name="Slide Number Placeholder 3"/>
          <p:cNvSpPr>
            <a:spLocks noGrp="1"/>
          </p:cNvSpPr>
          <p:nvPr>
            <p:ph type="sldNum" sz="quarter" idx="5"/>
          </p:nvPr>
        </p:nvSpPr>
        <p:spPr/>
        <p:txBody>
          <a:bodyPr/>
          <a:lstStyle/>
          <a:p>
            <a:fld id="{A753AD65-C786-44B8-B520-5BEDC04DF5FD}" type="slidenum">
              <a:rPr lang="en-US" smtClean="0"/>
              <a:t>3</a:t>
            </a:fld>
            <a:endParaRPr lang="en-US"/>
          </a:p>
        </p:txBody>
      </p:sp>
    </p:spTree>
    <p:extLst>
      <p:ext uri="{BB962C8B-B14F-4D97-AF65-F5344CB8AC3E}">
        <p14:creationId xmlns:p14="http://schemas.microsoft.com/office/powerpoint/2010/main" val="2496012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Shannon</a:t>
            </a:r>
          </a:p>
        </p:txBody>
      </p:sp>
      <p:sp>
        <p:nvSpPr>
          <p:cNvPr id="4" name="Slide Number Placeholder 3"/>
          <p:cNvSpPr>
            <a:spLocks noGrp="1"/>
          </p:cNvSpPr>
          <p:nvPr>
            <p:ph type="sldNum" sz="quarter" idx="5"/>
          </p:nvPr>
        </p:nvSpPr>
        <p:spPr/>
        <p:txBody>
          <a:bodyPr/>
          <a:lstStyle/>
          <a:p>
            <a:fld id="{A753AD65-C786-44B8-B520-5BEDC04DF5FD}" type="slidenum">
              <a:rPr lang="en-US" smtClean="0"/>
              <a:t>4</a:t>
            </a:fld>
            <a:endParaRPr lang="en-US"/>
          </a:p>
        </p:txBody>
      </p:sp>
    </p:spTree>
    <p:extLst>
      <p:ext uri="{BB962C8B-B14F-4D97-AF65-F5344CB8AC3E}">
        <p14:creationId xmlns:p14="http://schemas.microsoft.com/office/powerpoint/2010/main" val="137716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E2B0-525A-A4B2-6E86-B9CFC77A5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D45B3-931C-E7D4-8FEC-39F7C18D5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6B407-E007-7AC5-3DC7-D4B2C60F76A2}"/>
              </a:ext>
            </a:extLst>
          </p:cNvPr>
          <p:cNvSpPr>
            <a:spLocks noGrp="1"/>
          </p:cNvSpPr>
          <p:nvPr>
            <p:ph type="body" idx="1"/>
          </p:nvPr>
        </p:nvSpPr>
        <p:spPr/>
        <p:txBody>
          <a:bodyPr/>
          <a:lstStyle/>
          <a:p>
            <a:r>
              <a:rPr lang="en-US"/>
              <a:t>Shannon</a:t>
            </a:r>
          </a:p>
        </p:txBody>
      </p:sp>
      <p:sp>
        <p:nvSpPr>
          <p:cNvPr id="4" name="Slide Number Placeholder 3">
            <a:extLst>
              <a:ext uri="{FF2B5EF4-FFF2-40B4-BE49-F238E27FC236}">
                <a16:creationId xmlns:a16="http://schemas.microsoft.com/office/drawing/2014/main" id="{463061C7-29CD-70FD-80A0-1E862342CA9A}"/>
              </a:ext>
            </a:extLst>
          </p:cNvPr>
          <p:cNvSpPr>
            <a:spLocks noGrp="1"/>
          </p:cNvSpPr>
          <p:nvPr>
            <p:ph type="sldNum" sz="quarter" idx="5"/>
          </p:nvPr>
        </p:nvSpPr>
        <p:spPr/>
        <p:txBody>
          <a:bodyPr/>
          <a:lstStyle/>
          <a:p>
            <a:fld id="{A753AD65-C786-44B8-B520-5BEDC04DF5FD}" type="slidenum">
              <a:rPr lang="en-US" smtClean="0"/>
              <a:t>5</a:t>
            </a:fld>
            <a:endParaRPr lang="en-US"/>
          </a:p>
        </p:txBody>
      </p:sp>
    </p:spTree>
    <p:extLst>
      <p:ext uri="{BB962C8B-B14F-4D97-AF65-F5344CB8AC3E}">
        <p14:creationId xmlns:p14="http://schemas.microsoft.com/office/powerpoint/2010/main" val="543421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D147A-A383-F8DE-0DC3-164753A3D2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057693-1B12-32CC-696B-78F5782CFE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A12300-A462-FB87-0BD4-A9146B8949E8}"/>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87641649-52EE-16AB-2543-013CA927E5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6E9CA0-6591-7F38-F044-1273A74E24BB}"/>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409978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F172E-16B6-0062-1875-CB44F89659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3A814F-F046-7D65-F03C-C6DD0F4F72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6D9C4F-885E-B002-7C3F-B4E993F05721}"/>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5763A2DE-AACC-17FB-0B8F-BA802D287D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14060-8CB5-D5B3-CAD0-835C74F6AAEB}"/>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174557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63E9-B344-AD08-7473-3CB325375D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042C77-B0FB-C511-0B7F-E07DD67EFB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7D675-41CC-A922-138A-72147A6E7279}"/>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DC53C580-7F07-FE03-942A-0856C620CD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81EF2C-A1C1-E377-F4EF-5CC7D5583333}"/>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2784909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A7CC-CBB6-9761-3112-965BCCB07A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1EF584-ADC0-FCB2-1668-F7DA01F297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76FD0C-98CC-2D77-85D7-73F8AC9D3F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DA7326-55F6-8851-B566-D66F7F15F22C}"/>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6" name="Footer Placeholder 5">
            <a:extLst>
              <a:ext uri="{FF2B5EF4-FFF2-40B4-BE49-F238E27FC236}">
                <a16:creationId xmlns:a16="http://schemas.microsoft.com/office/drawing/2014/main" id="{50AD5597-30A0-9BA7-9F4C-4CE948DE1E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98098-4BA8-6218-DBD3-77C6AC0BD192}"/>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4033706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23F0-BE87-C515-7B1E-64758061EB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EC85C0-BC1D-B0C3-6536-51E47ACD96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029A27-E9FF-247D-BEB9-15624BF0CE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BA309B-8C3C-7CB7-A7C9-562F4CCB71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314216-FF54-D41B-36CD-511E5D09BE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D0D501-9D8E-984E-08D8-F5774E117B21}"/>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8" name="Footer Placeholder 7">
            <a:extLst>
              <a:ext uri="{FF2B5EF4-FFF2-40B4-BE49-F238E27FC236}">
                <a16:creationId xmlns:a16="http://schemas.microsoft.com/office/drawing/2014/main" id="{C36287CC-F8FF-D639-A74D-17CECA891B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619AB1-B7B7-28DB-6899-8FE02B048934}"/>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572360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4EB6C-1D6D-1878-6629-E83279564E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487622-E32E-E6ED-1E07-CEF5F3FFFB87}"/>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4" name="Footer Placeholder 3">
            <a:extLst>
              <a:ext uri="{FF2B5EF4-FFF2-40B4-BE49-F238E27FC236}">
                <a16:creationId xmlns:a16="http://schemas.microsoft.com/office/drawing/2014/main" id="{A23E2970-E699-EDCF-FB95-4254173E89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2C9EB1-E96F-EAD6-475A-3A8657A72417}"/>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1467969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144F80-E54B-6372-4DD6-94A4417EDB09}"/>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3" name="Footer Placeholder 2">
            <a:extLst>
              <a:ext uri="{FF2B5EF4-FFF2-40B4-BE49-F238E27FC236}">
                <a16:creationId xmlns:a16="http://schemas.microsoft.com/office/drawing/2014/main" id="{554FA009-005F-BCFA-A646-F41B437164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676587-5146-9812-B476-D342D594DA91}"/>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2460641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9F46-6D67-4101-A680-BEFE401F21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9667EA-87A6-40F1-DC77-D601788D8A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4675A6-1061-4CE3-1760-B2BCACCF6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EFA7D-9CE4-DF3C-BB9C-04ADD42158C4}"/>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6" name="Footer Placeholder 5">
            <a:extLst>
              <a:ext uri="{FF2B5EF4-FFF2-40B4-BE49-F238E27FC236}">
                <a16:creationId xmlns:a16="http://schemas.microsoft.com/office/drawing/2014/main" id="{1886FA6F-F17E-F194-569B-30E36B70E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8241FE-30B7-96A8-16FC-9DF2336087A5}"/>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897100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E332-029B-CF20-4AEC-9BB2CF2E8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D9FDDA-FC47-C6C2-99A3-CAA1A0ABD0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181733-AA03-E13F-F868-2B6B1F43C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391CB-AB60-80C3-F7D2-BA5B1EF66C40}"/>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6" name="Footer Placeholder 5">
            <a:extLst>
              <a:ext uri="{FF2B5EF4-FFF2-40B4-BE49-F238E27FC236}">
                <a16:creationId xmlns:a16="http://schemas.microsoft.com/office/drawing/2014/main" id="{B95D06FF-2AEA-01CE-845E-B7634468A5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425693-3CBF-0890-6A67-8F738DEDD233}"/>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2579349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673B9-7840-881C-ED16-A0FFCF7FBF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221878-EBDE-6357-9637-DED7C8F6D3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77C19-C2D7-C27E-0946-0DD696285608}"/>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98E83603-9A5A-D4AB-F500-205E2A06C9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D2152-642E-4EE5-CEB0-E5B61DECF359}"/>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244378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FC5B61-7CFC-AF97-A1DE-9394A8585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6ED191-A5FA-F725-AB08-0DCCDC54F8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A53429-DB72-26F3-575A-2FCFCF91C6AE}"/>
              </a:ext>
            </a:extLst>
          </p:cNvPr>
          <p:cNvSpPr>
            <a:spLocks noGrp="1"/>
          </p:cNvSpPr>
          <p:nvPr>
            <p:ph type="dt" sz="half" idx="10"/>
          </p:nvPr>
        </p:nvSpPr>
        <p:spPr/>
        <p:txBody>
          <a:body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D238B4CC-F2A7-D837-0557-A1CBCA27E9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B956B-FF9E-CA84-C879-0D055B3EA4E6}"/>
              </a:ext>
            </a:extLst>
          </p:cNvPr>
          <p:cNvSpPr>
            <a:spLocks noGrp="1"/>
          </p:cNvSpPr>
          <p:nvPr>
            <p:ph type="sldNum" sz="quarter" idx="12"/>
          </p:nvPr>
        </p:nvSpPr>
        <p:spPr/>
        <p:txBody>
          <a:bodyPr/>
          <a:lstStyle/>
          <a:p>
            <a:fld id="{392E9692-AA82-4BC3-A387-4B92502FAE5C}" type="slidenum">
              <a:rPr lang="en-US" smtClean="0"/>
              <a:t>‹#›</a:t>
            </a:fld>
            <a:endParaRPr lang="en-US"/>
          </a:p>
        </p:txBody>
      </p:sp>
    </p:spTree>
    <p:extLst>
      <p:ext uri="{BB962C8B-B14F-4D97-AF65-F5344CB8AC3E}">
        <p14:creationId xmlns:p14="http://schemas.microsoft.com/office/powerpoint/2010/main" val="2938943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8B2A21-E74B-32CE-0E9F-F411ACAC73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D1D7F1-0833-D387-086C-DF0294048B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513788-CDCE-461B-470B-3FE417274D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03D840-A19F-43DE-A2C9-E46E9A8689E4}" type="datetimeFigureOut">
              <a:rPr lang="en-US" smtClean="0"/>
              <a:t>2/9/2026</a:t>
            </a:fld>
            <a:endParaRPr lang="en-US"/>
          </a:p>
        </p:txBody>
      </p:sp>
      <p:sp>
        <p:nvSpPr>
          <p:cNvPr id="5" name="Footer Placeholder 4">
            <a:extLst>
              <a:ext uri="{FF2B5EF4-FFF2-40B4-BE49-F238E27FC236}">
                <a16:creationId xmlns:a16="http://schemas.microsoft.com/office/drawing/2014/main" id="{6A77F264-6D3B-A5FD-7844-B75370D229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C7395D-B7A7-6759-901B-A6E8A3C024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2E9692-AA82-4BC3-A387-4B92502FAE5C}" type="slidenum">
              <a:rPr lang="en-US" smtClean="0"/>
              <a:t>‹#›</a:t>
            </a:fld>
            <a:endParaRPr lang="en-US"/>
          </a:p>
        </p:txBody>
      </p:sp>
    </p:spTree>
    <p:extLst>
      <p:ext uri="{BB962C8B-B14F-4D97-AF65-F5344CB8AC3E}">
        <p14:creationId xmlns:p14="http://schemas.microsoft.com/office/powerpoint/2010/main" val="713216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C3922-3A63-A8F9-47C5-E861252791EF}"/>
              </a:ext>
            </a:extLst>
          </p:cNvPr>
          <p:cNvSpPr>
            <a:spLocks noGrp="1"/>
          </p:cNvSpPr>
          <p:nvPr>
            <p:ph type="ctrTitle"/>
          </p:nvPr>
        </p:nvSpPr>
        <p:spPr>
          <a:xfrm>
            <a:off x="1127208" y="1076457"/>
            <a:ext cx="4747280" cy="2356938"/>
          </a:xfrm>
        </p:spPr>
        <p:txBody>
          <a:bodyPr anchor="b">
            <a:normAutofit/>
          </a:bodyPr>
          <a:lstStyle/>
          <a:p>
            <a:pPr algn="l"/>
            <a:r>
              <a:rPr lang="en-US" sz="4000">
                <a:solidFill>
                  <a:srgbClr val="FFFFFF"/>
                </a:solidFill>
                <a:latin typeface="Times New Roman"/>
                <a:cs typeface="Times New Roman"/>
              </a:rPr>
              <a:t>Convenience for the Inconvenience</a:t>
            </a:r>
            <a:br>
              <a:rPr lang="en-US" sz="4000">
                <a:latin typeface="Times New Roman"/>
                <a:cs typeface="Times New Roman"/>
              </a:rPr>
            </a:br>
            <a:br>
              <a:rPr lang="en-US" sz="3400">
                <a:latin typeface="Times New Roman"/>
                <a:cs typeface="Times New Roman"/>
              </a:rPr>
            </a:br>
            <a:r>
              <a:rPr lang="en-US" sz="2400">
                <a:solidFill>
                  <a:srgbClr val="FFFFFF"/>
                </a:solidFill>
                <a:latin typeface="Times New Roman"/>
                <a:cs typeface="Times New Roman"/>
              </a:rPr>
              <a:t>Solving the small problems that make life harder than it needs to be</a:t>
            </a:r>
          </a:p>
        </p:txBody>
      </p:sp>
      <p:sp>
        <p:nvSpPr>
          <p:cNvPr id="25" name="Rectangle 24">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F829CB9-F648-6833-FFD2-DFB2523731AC}"/>
              </a:ext>
            </a:extLst>
          </p:cNvPr>
          <p:cNvSpPr>
            <a:spLocks noGrp="1"/>
          </p:cNvSpPr>
          <p:nvPr>
            <p:ph type="subTitle" idx="1"/>
          </p:nvPr>
        </p:nvSpPr>
        <p:spPr>
          <a:xfrm>
            <a:off x="1127208" y="4756265"/>
            <a:ext cx="4393278" cy="1244483"/>
          </a:xfrm>
        </p:spPr>
        <p:txBody>
          <a:bodyPr vert="horz" lIns="91440" tIns="45720" rIns="91440" bIns="45720" rtlCol="0" anchor="t">
            <a:normAutofit/>
          </a:bodyPr>
          <a:lstStyle/>
          <a:p>
            <a:pPr algn="l"/>
            <a:r>
              <a:rPr lang="en-US" sz="1300" b="1">
                <a:solidFill>
                  <a:srgbClr val="FFFFFF"/>
                </a:solidFill>
                <a:latin typeface="Times New Roman"/>
                <a:cs typeface="Times New Roman"/>
              </a:rPr>
              <a:t>By: </a:t>
            </a:r>
            <a:r>
              <a:rPr lang="en-US" sz="1300">
                <a:solidFill>
                  <a:srgbClr val="FFFFFF"/>
                </a:solidFill>
                <a:latin typeface="Times New Roman"/>
                <a:cs typeface="Times New Roman"/>
              </a:rPr>
              <a:t>Shannon Cullen, Ryan Jankowski, Rohan Pratap Reddy </a:t>
            </a:r>
            <a:r>
              <a:rPr lang="en-US" sz="1300" err="1">
                <a:solidFill>
                  <a:srgbClr val="FFFFFF"/>
                </a:solidFill>
                <a:latin typeface="Times New Roman"/>
                <a:cs typeface="Times New Roman"/>
              </a:rPr>
              <a:t>Ravula</a:t>
            </a:r>
            <a:r>
              <a:rPr lang="en-US" sz="1300">
                <a:solidFill>
                  <a:srgbClr val="FFFFFF"/>
                </a:solidFill>
                <a:latin typeface="Times New Roman"/>
                <a:cs typeface="Times New Roman"/>
              </a:rPr>
              <a:t>, </a:t>
            </a:r>
            <a:r>
              <a:rPr lang="en-US" sz="1300" err="1">
                <a:solidFill>
                  <a:srgbClr val="FFFFFF"/>
                </a:solidFill>
                <a:latin typeface="Times New Roman"/>
                <a:cs typeface="Times New Roman"/>
              </a:rPr>
              <a:t>Annanahmed</a:t>
            </a:r>
            <a:r>
              <a:rPr lang="en-US" sz="1300">
                <a:solidFill>
                  <a:srgbClr val="FFFFFF"/>
                </a:solidFill>
                <a:latin typeface="Times New Roman"/>
                <a:cs typeface="Times New Roman"/>
              </a:rPr>
              <a:t> Shaikh, and Sarah </a:t>
            </a:r>
            <a:r>
              <a:rPr lang="en-US" sz="1300" err="1">
                <a:solidFill>
                  <a:srgbClr val="FFFFFF"/>
                </a:solidFill>
                <a:latin typeface="Times New Roman"/>
                <a:cs typeface="Times New Roman"/>
              </a:rPr>
              <a:t>Stantial</a:t>
            </a:r>
            <a:endParaRPr lang="en-US" sz="1300">
              <a:solidFill>
                <a:srgbClr val="FFFFFF"/>
              </a:solidFill>
              <a:latin typeface="Times New Roman"/>
              <a:cs typeface="Times New Roman"/>
            </a:endParaRPr>
          </a:p>
          <a:p>
            <a:pPr algn="l"/>
            <a:endParaRPr lang="en-US" sz="1300">
              <a:solidFill>
                <a:srgbClr val="FFFFFF"/>
              </a:solidFill>
              <a:latin typeface="Times New Roman"/>
              <a:cs typeface="Times New Roman"/>
            </a:endParaRPr>
          </a:p>
          <a:p>
            <a:pPr algn="l"/>
            <a:r>
              <a:rPr lang="en-US" sz="1300">
                <a:solidFill>
                  <a:srgbClr val="FFFFFF"/>
                </a:solidFill>
                <a:latin typeface="Times New Roman"/>
                <a:cs typeface="Times New Roman"/>
              </a:rPr>
              <a:t>Date: </a:t>
            </a:r>
            <a:r>
              <a:rPr lang="en-US" sz="1300" b="1">
                <a:solidFill>
                  <a:srgbClr val="FFFFFF"/>
                </a:solidFill>
                <a:latin typeface="Times New Roman"/>
                <a:cs typeface="Times New Roman"/>
              </a:rPr>
              <a:t>February 9, 2026</a:t>
            </a:r>
            <a:r>
              <a:rPr lang="en-US" sz="1300">
                <a:solidFill>
                  <a:srgbClr val="FFFFFF"/>
                </a:solidFill>
                <a:latin typeface="Times New Roman"/>
                <a:cs typeface="Times New Roman"/>
              </a:rPr>
              <a:t>                              </a:t>
            </a:r>
            <a:r>
              <a:rPr lang="en-US" sz="1300" b="1">
                <a:solidFill>
                  <a:srgbClr val="FFFFFF"/>
                </a:solidFill>
                <a:latin typeface="Times New Roman"/>
                <a:cs typeface="Times New Roman"/>
              </a:rPr>
              <a:t>Prof. </a:t>
            </a:r>
            <a:r>
              <a:rPr lang="en-US" sz="1300" b="1">
                <a:solidFill>
                  <a:srgbClr val="FFFFFF"/>
                </a:solidFill>
                <a:latin typeface="Times New Roman"/>
                <a:ea typeface="Lato"/>
                <a:cs typeface="Lato"/>
              </a:rPr>
              <a:t>Val </a:t>
            </a:r>
            <a:r>
              <a:rPr lang="en-US" sz="1300" b="1" err="1">
                <a:solidFill>
                  <a:srgbClr val="FFFFFF"/>
                </a:solidFill>
                <a:latin typeface="Times New Roman"/>
                <a:ea typeface="Lato"/>
                <a:cs typeface="Lato"/>
              </a:rPr>
              <a:t>Galitskiy</a:t>
            </a:r>
            <a:endParaRPr lang="en-US" sz="1300" b="1">
              <a:solidFill>
                <a:srgbClr val="FFFFFF"/>
              </a:solidFill>
              <a:latin typeface="Times New Roman"/>
              <a:ea typeface="Lato"/>
              <a:cs typeface="Lato"/>
            </a:endParaRPr>
          </a:p>
        </p:txBody>
      </p:sp>
      <p:sp>
        <p:nvSpPr>
          <p:cNvPr id="27" name="Oval 26">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logo for a company&#10;&#10;AI-generated content may be incorrect.">
            <a:extLst>
              <a:ext uri="{FF2B5EF4-FFF2-40B4-BE49-F238E27FC236}">
                <a16:creationId xmlns:a16="http://schemas.microsoft.com/office/drawing/2014/main" id="{0BD98A8A-5403-A7D4-2403-ECF8B189DF0D}"/>
              </a:ext>
            </a:extLst>
          </p:cNvPr>
          <p:cNvPicPr>
            <a:picLocks noChangeAspect="1"/>
          </p:cNvPicPr>
          <p:nvPr/>
        </p:nvPicPr>
        <p:blipFill>
          <a:blip r:embed="rId2"/>
          <a:srcRect l="10790" t="270" r="19078" b="-904"/>
          <a:stretch>
            <a:fillRect/>
          </a:stretch>
        </p:blipFill>
        <p:spPr>
          <a:xfrm>
            <a:off x="6395518" y="1069614"/>
            <a:ext cx="4734481" cy="4734278"/>
          </a:xfrm>
          <a:prstGeom prst="ellipse">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812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D0005F-7510-E428-4736-BF5026D1B0D4}"/>
              </a:ext>
            </a:extLst>
          </p:cNvPr>
          <p:cNvSpPr>
            <a:spLocks noGrp="1"/>
          </p:cNvSpPr>
          <p:nvPr>
            <p:ph type="title"/>
          </p:nvPr>
        </p:nvSpPr>
        <p:spPr>
          <a:xfrm>
            <a:off x="1371599" y="294538"/>
            <a:ext cx="9895951" cy="1033669"/>
          </a:xfrm>
        </p:spPr>
        <p:txBody>
          <a:bodyPr>
            <a:normAutofit/>
          </a:bodyPr>
          <a:lstStyle/>
          <a:p>
            <a:r>
              <a:rPr lang="en-US" sz="4000">
                <a:solidFill>
                  <a:srgbClr val="FFFFFF"/>
                </a:solidFill>
                <a:ea typeface="+mj-lt"/>
                <a:cs typeface="+mj-lt"/>
              </a:rPr>
              <a:t>Our Mission</a:t>
            </a:r>
            <a:endParaRPr lang="en-US" sz="4000">
              <a:solidFill>
                <a:srgbClr val="FFFFFF"/>
              </a:solidFill>
            </a:endParaRPr>
          </a:p>
        </p:txBody>
      </p:sp>
      <p:sp>
        <p:nvSpPr>
          <p:cNvPr id="3" name="Content Placeholder 2">
            <a:extLst>
              <a:ext uri="{FF2B5EF4-FFF2-40B4-BE49-F238E27FC236}">
                <a16:creationId xmlns:a16="http://schemas.microsoft.com/office/drawing/2014/main" id="{44F43202-867D-19A8-9895-4DFF0D89ED8D}"/>
              </a:ext>
            </a:extLst>
          </p:cNvPr>
          <p:cNvSpPr>
            <a:spLocks noGrp="1"/>
          </p:cNvSpPr>
          <p:nvPr>
            <p:ph idx="1"/>
          </p:nvPr>
        </p:nvSpPr>
        <p:spPr>
          <a:xfrm>
            <a:off x="1371599" y="2318197"/>
            <a:ext cx="9724031" cy="3683358"/>
          </a:xfrm>
        </p:spPr>
        <p:txBody>
          <a:bodyPr vert="horz" lIns="91440" tIns="45720" rIns="91440" bIns="45720" rtlCol="0" anchor="ctr">
            <a:normAutofit/>
          </a:bodyPr>
          <a:lstStyle/>
          <a:p>
            <a:pPr>
              <a:buFont typeface="Wingdings" panose="020B0604020202020204" pitchFamily="34" charset="0"/>
              <a:buChar char="Ø"/>
            </a:pPr>
            <a:r>
              <a:rPr lang="en-US" sz="2000">
                <a:latin typeface="Aptos"/>
                <a:ea typeface="+mn-lt"/>
                <a:cs typeface="+mn-lt"/>
              </a:rPr>
              <a:t>Every day, we encounter tiny frustrations that slow us down, cost us money, or just make things more complicated than they should be. Most people accept these as part of life. We don't.</a:t>
            </a:r>
            <a:endParaRPr lang="en-US" sz="2000">
              <a:latin typeface="Aptos"/>
              <a:cs typeface="Times New Roman"/>
            </a:endParaRPr>
          </a:p>
          <a:p>
            <a:pPr>
              <a:buFont typeface="Wingdings" panose="020B0604020202020204" pitchFamily="34" charset="0"/>
              <a:buChar char="Ø"/>
            </a:pPr>
            <a:endParaRPr lang="en-US" sz="2000">
              <a:latin typeface="Aptos"/>
              <a:ea typeface="+mn-lt"/>
              <a:cs typeface="+mn-lt"/>
            </a:endParaRPr>
          </a:p>
          <a:p>
            <a:pPr>
              <a:buFont typeface="Wingdings" panose="020B0604020202020204" pitchFamily="34" charset="0"/>
              <a:buChar char="Ø"/>
            </a:pPr>
            <a:r>
              <a:rPr lang="en-US" sz="2000">
                <a:latin typeface="Aptos"/>
                <a:ea typeface="+mn-lt"/>
                <a:cs typeface="+mn-lt"/>
              </a:rPr>
              <a:t>Our team is focused on identifying these overlooked inconveniences—the recurring pain points that people have learned to live with—and developing practical solutions that genuinely improve daily life.</a:t>
            </a:r>
            <a:endParaRPr lang="en-US" sz="2000">
              <a:latin typeface="Aptos"/>
              <a:cs typeface="Times New Roman"/>
            </a:endParaRPr>
          </a:p>
          <a:p>
            <a:pPr>
              <a:buFont typeface="Wingdings" panose="020B0604020202020204" pitchFamily="34" charset="0"/>
              <a:buChar char="Ø"/>
            </a:pPr>
            <a:endParaRPr lang="en-US" sz="2000">
              <a:latin typeface="Aptos"/>
              <a:ea typeface="+mn-lt"/>
              <a:cs typeface="+mn-lt"/>
            </a:endParaRPr>
          </a:p>
          <a:p>
            <a:pPr>
              <a:buFont typeface="Wingdings" panose="020B0604020202020204" pitchFamily="34" charset="0"/>
              <a:buChar char="Ø"/>
            </a:pPr>
            <a:r>
              <a:rPr lang="en-US" sz="2000">
                <a:latin typeface="Aptos"/>
                <a:ea typeface="+mn-lt"/>
                <a:cs typeface="+mn-lt"/>
              </a:rPr>
              <a:t>From juggling too many shopping bags to hunting for the right charging cable to paying for multiple streaming services just to watch a couple shows—these are the problems worth solving.</a:t>
            </a:r>
            <a:endParaRPr lang="en-US" sz="2000">
              <a:latin typeface="Aptos"/>
              <a:cs typeface="Times New Roman"/>
            </a:endParaRPr>
          </a:p>
          <a:p>
            <a:pPr>
              <a:buFont typeface="Wingdings" panose="020B0604020202020204" pitchFamily="34" charset="0"/>
              <a:buChar char="Ø"/>
            </a:pPr>
            <a:endParaRPr lang="en-US" sz="2000">
              <a:latin typeface="Times New Roman"/>
              <a:cs typeface="Times New Roman"/>
            </a:endParaRPr>
          </a:p>
        </p:txBody>
      </p:sp>
    </p:spTree>
    <p:extLst>
      <p:ext uri="{BB962C8B-B14F-4D97-AF65-F5344CB8AC3E}">
        <p14:creationId xmlns:p14="http://schemas.microsoft.com/office/powerpoint/2010/main" val="81251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2858F8-5B92-4F78-0F67-CFCF0A683508}"/>
              </a:ext>
            </a:extLst>
          </p:cNvPr>
          <p:cNvSpPr>
            <a:spLocks noGrp="1"/>
          </p:cNvSpPr>
          <p:nvPr>
            <p:ph type="title"/>
          </p:nvPr>
        </p:nvSpPr>
        <p:spPr>
          <a:xfrm>
            <a:off x="1371599" y="294538"/>
            <a:ext cx="9895951" cy="1033669"/>
          </a:xfrm>
        </p:spPr>
        <p:txBody>
          <a:bodyPr>
            <a:normAutofit/>
          </a:bodyPr>
          <a:lstStyle/>
          <a:p>
            <a:r>
              <a:rPr lang="en-US" sz="3400">
                <a:solidFill>
                  <a:srgbClr val="FFFFFF"/>
                </a:solidFill>
                <a:latin typeface="Aptos Display"/>
                <a:cs typeface="Times New Roman"/>
              </a:rPr>
              <a:t>Pain Point 1: </a:t>
            </a:r>
            <a:r>
              <a:rPr lang="en-US" sz="3400">
                <a:solidFill>
                  <a:srgbClr val="FFFFFF"/>
                </a:solidFill>
                <a:latin typeface="Aptos Display"/>
                <a:ea typeface="+mj-lt"/>
                <a:cs typeface="+mj-lt"/>
              </a:rPr>
              <a:t>The Burden of the Bag: Solving the Last-Mile Grocery Strain</a:t>
            </a:r>
            <a:endParaRPr lang="en-US" sz="3400">
              <a:solidFill>
                <a:srgbClr val="FFFFFF"/>
              </a:solidFill>
              <a:latin typeface="Aptos Display"/>
              <a:cs typeface="Times New Roman"/>
            </a:endParaRPr>
          </a:p>
        </p:txBody>
      </p:sp>
      <p:sp>
        <p:nvSpPr>
          <p:cNvPr id="3" name="Content Placeholder 2">
            <a:extLst>
              <a:ext uri="{FF2B5EF4-FFF2-40B4-BE49-F238E27FC236}">
                <a16:creationId xmlns:a16="http://schemas.microsoft.com/office/drawing/2014/main" id="{4D65F9C4-A68F-F44D-C7A6-4675786F3951}"/>
              </a:ext>
            </a:extLst>
          </p:cNvPr>
          <p:cNvSpPr>
            <a:spLocks noGrp="1"/>
          </p:cNvSpPr>
          <p:nvPr>
            <p:ph idx="1"/>
          </p:nvPr>
        </p:nvSpPr>
        <p:spPr>
          <a:xfrm>
            <a:off x="1371599" y="2020529"/>
            <a:ext cx="10269795" cy="4837471"/>
          </a:xfrm>
        </p:spPr>
        <p:txBody>
          <a:bodyPr vert="horz" lIns="91440" tIns="45720" rIns="91440" bIns="45720" rtlCol="0" anchor="ctr">
            <a:normAutofit fontScale="25000" lnSpcReduction="20000"/>
          </a:bodyPr>
          <a:lstStyle/>
          <a:p>
            <a:pPr>
              <a:buFont typeface="Wingdings" panose="020B0604020202020204" pitchFamily="34" charset="0"/>
              <a:buChar char="Ø"/>
            </a:pPr>
            <a:r>
              <a:rPr lang="en-US" sz="5600" b="1">
                <a:ea typeface="+mn-lt"/>
                <a:cs typeface="Times New Roman"/>
              </a:rPr>
              <a:t>Affected people</a:t>
            </a:r>
          </a:p>
          <a:p>
            <a:pPr lvl="1">
              <a:buFont typeface="Wingdings" panose="020B0604020202020204" pitchFamily="34" charset="0"/>
              <a:buChar char="§"/>
            </a:pPr>
            <a:r>
              <a:rPr lang="en-US" sz="5600">
                <a:ea typeface="+mn-lt"/>
                <a:cs typeface="+mn-lt"/>
              </a:rPr>
              <a:t>The group of people who are affected by this are : Primary Users (Urban commuters, students, and employees without personal vehicles), Vulnerable Groups</a:t>
            </a:r>
            <a:r>
              <a:rPr lang="en-US" sz="5600" b="1">
                <a:ea typeface="+mn-lt"/>
                <a:cs typeface="+mn-lt"/>
              </a:rPr>
              <a:t> </a:t>
            </a:r>
            <a:r>
              <a:rPr lang="en-US" sz="5600">
                <a:ea typeface="+mn-lt"/>
                <a:cs typeface="+mn-lt"/>
              </a:rPr>
              <a:t>(Elderly shoppers and people with disabilities), Caregivers (Parents managing both children and heavy groceries) and  Business Stakeholders (Retailers facing capped sales due to consumer carrying limits). </a:t>
            </a:r>
            <a:endParaRPr lang="en-US" sz="5600" b="1">
              <a:ea typeface="+mn-lt"/>
              <a:cs typeface="Times New Roman"/>
            </a:endParaRPr>
          </a:p>
          <a:p>
            <a:pPr>
              <a:buFont typeface="Wingdings" panose="020B0604020202020204" pitchFamily="34" charset="0"/>
              <a:buChar char="Ø"/>
            </a:pPr>
            <a:r>
              <a:rPr lang="en-US" sz="5600" b="1">
                <a:ea typeface="+mn-lt"/>
                <a:cs typeface="+mn-lt"/>
              </a:rPr>
              <a:t>Core problem  </a:t>
            </a:r>
            <a:endParaRPr lang="en-US" sz="5600" b="1">
              <a:ea typeface="+mn-lt"/>
              <a:cs typeface="Times New Roman"/>
            </a:endParaRPr>
          </a:p>
          <a:p>
            <a:pPr lvl="1">
              <a:buFont typeface="Wingdings" panose="020B0604020202020204" pitchFamily="34" charset="0"/>
              <a:buChar char="§"/>
            </a:pPr>
            <a:r>
              <a:rPr lang="en-US" sz="5600">
                <a:ea typeface="+mn-lt"/>
                <a:cs typeface="+mn-lt"/>
              </a:rPr>
              <a:t>Ergonomic Design Failure</a:t>
            </a:r>
            <a:r>
              <a:rPr lang="en-US" sz="5600" b="1">
                <a:ea typeface="+mn-lt"/>
                <a:cs typeface="+mn-lt"/>
              </a:rPr>
              <a:t>:</a:t>
            </a:r>
            <a:r>
              <a:rPr lang="en-US" sz="5600">
                <a:ea typeface="+mn-lt"/>
                <a:cs typeface="+mn-lt"/>
              </a:rPr>
              <a:t> Thin plastic/paper handles concentrate high-pressure weight onto small surface areas of the fingers and palms. </a:t>
            </a:r>
            <a:endParaRPr lang="en-US" sz="5600" b="1">
              <a:ea typeface="+mn-lt"/>
              <a:cs typeface="Times New Roman"/>
            </a:endParaRPr>
          </a:p>
          <a:p>
            <a:pPr lvl="1">
              <a:buFont typeface="Wingdings" panose="020B0604020202020204" pitchFamily="34" charset="0"/>
              <a:buChar char="§"/>
            </a:pPr>
            <a:r>
              <a:rPr lang="en-US" sz="5600">
                <a:ea typeface="+mn-lt"/>
                <a:cs typeface="+mn-lt"/>
              </a:rPr>
              <a:t>Physical Strain: Unbalanced loads over long walking distances cause acute pain in the back, shoulders, and hands. </a:t>
            </a:r>
            <a:endParaRPr lang="en-US" sz="5600">
              <a:ea typeface="+mn-lt"/>
              <a:cs typeface="Times New Roman"/>
            </a:endParaRPr>
          </a:p>
          <a:p>
            <a:pPr lvl="1">
              <a:buFont typeface="Wingdings" panose="020B0604020202020204" pitchFamily="34" charset="0"/>
              <a:buChar char="§"/>
            </a:pPr>
            <a:r>
              <a:rPr lang="en-US" sz="5600">
                <a:ea typeface="+mn-lt"/>
                <a:cs typeface="+mn-lt"/>
              </a:rPr>
              <a:t>Structural Instability: Standard retail bags lack the integrity to hold heavy staples (milk, detergents), leading to fear of bag breakage. </a:t>
            </a:r>
            <a:endParaRPr lang="en-US" sz="5600">
              <a:ea typeface="+mn-lt"/>
              <a:cs typeface="Times New Roman"/>
            </a:endParaRPr>
          </a:p>
          <a:p>
            <a:pPr>
              <a:buFont typeface="Wingdings" panose="020B0604020202020204" pitchFamily="34" charset="0"/>
              <a:buChar char="Ø"/>
            </a:pPr>
            <a:r>
              <a:rPr lang="en-US" sz="5600" b="1">
                <a:ea typeface="+mn-lt"/>
                <a:cs typeface="+mn-lt"/>
              </a:rPr>
              <a:t>Why it matters </a:t>
            </a:r>
            <a:endParaRPr lang="en-US" sz="5600" b="1">
              <a:ea typeface="+mn-lt"/>
              <a:cs typeface="Times New Roman"/>
            </a:endParaRPr>
          </a:p>
          <a:p>
            <a:pPr lvl="1">
              <a:buFont typeface="Wingdings" panose="020B0604020202020204" pitchFamily="34" charset="0"/>
              <a:buChar char="§"/>
            </a:pPr>
            <a:r>
              <a:rPr lang="en-US" sz="5600">
                <a:ea typeface="+mn-lt"/>
                <a:cs typeface="+mn-lt"/>
              </a:rPr>
              <a:t>Health &amp; Safety: Physical injury (strains) and "purple palm" bruising from restricted circulation.</a:t>
            </a:r>
            <a:endParaRPr lang="en-US" sz="5600" b="1">
              <a:ea typeface="+mn-lt"/>
              <a:cs typeface="Times New Roman"/>
            </a:endParaRPr>
          </a:p>
          <a:p>
            <a:pPr lvl="1">
              <a:buFont typeface="Wingdings" panose="020B0604020202020204" pitchFamily="34" charset="0"/>
              <a:buChar char="§"/>
            </a:pPr>
            <a:r>
              <a:rPr lang="en-US" sz="5600">
                <a:ea typeface="+mn-lt"/>
                <a:cs typeface="+mn-lt"/>
              </a:rPr>
              <a:t>Economic Loss: Consumers buy fewer items per trip because they cannot physically carry more, directly reducing retailer revenue.</a:t>
            </a:r>
            <a:endParaRPr lang="en-US" sz="5600">
              <a:ea typeface="+mn-lt"/>
              <a:cs typeface="Times New Roman"/>
            </a:endParaRPr>
          </a:p>
          <a:p>
            <a:pPr lvl="1">
              <a:buFont typeface="Wingdings" panose="020B0604020202020204" pitchFamily="34" charset="0"/>
              <a:buChar char="§"/>
            </a:pPr>
            <a:r>
              <a:rPr lang="en-US" sz="5600">
                <a:ea typeface="+mn-lt"/>
                <a:cs typeface="+mn-lt"/>
              </a:rPr>
              <a:t>Financial Burden: Users are forced to pay expensive "Quick-Commerce" delivery fees just to avoid the physical labor of hauling goods. </a:t>
            </a:r>
            <a:endParaRPr lang="en-US" sz="5600">
              <a:ea typeface="+mn-lt"/>
              <a:cs typeface="Times New Roman"/>
            </a:endParaRPr>
          </a:p>
          <a:p>
            <a:pPr lvl="1">
              <a:buFont typeface="Wingdings" panose="020B0604020202020204" pitchFamily="34" charset="0"/>
              <a:buChar char="§"/>
            </a:pPr>
            <a:r>
              <a:rPr lang="en-US" sz="5600">
                <a:ea typeface="+mn-lt"/>
                <a:cs typeface="+mn-lt"/>
              </a:rPr>
              <a:t>Environmental Cost: The "Double-Bagging" habit increases plastic waste unnecessarily to compensate for poor bag strength.</a:t>
            </a:r>
            <a:endParaRPr lang="en-US" sz="5600">
              <a:ea typeface="+mn-lt"/>
              <a:cs typeface="Times New Roman"/>
            </a:endParaRPr>
          </a:p>
          <a:p>
            <a:pPr>
              <a:buFont typeface="Wingdings" panose="020B0604020202020204" pitchFamily="34" charset="0"/>
              <a:buChar char="Ø"/>
            </a:pPr>
            <a:r>
              <a:rPr lang="en-US" sz="5600" b="1">
                <a:ea typeface="+mn-lt"/>
                <a:cs typeface="Times New Roman"/>
              </a:rPr>
              <a:t>Examples</a:t>
            </a:r>
          </a:p>
          <a:p>
            <a:pPr lvl="1">
              <a:buFont typeface="Wingdings" panose="020B0604020202020204" pitchFamily="34" charset="0"/>
              <a:buChar char="§"/>
            </a:pPr>
            <a:r>
              <a:rPr lang="en-US" sz="5600">
                <a:ea typeface="+mn-lt"/>
                <a:cs typeface="+mn-lt"/>
              </a:rPr>
              <a:t>Market Adaptations: The surge in "hook-style" carriers and "granny carts" proves that standard bags are insufficient. </a:t>
            </a:r>
            <a:endParaRPr lang="en-US" sz="5600">
              <a:ea typeface="+mn-lt"/>
              <a:cs typeface="Times New Roman"/>
            </a:endParaRPr>
          </a:p>
          <a:p>
            <a:pPr lvl="1">
              <a:buFont typeface="Wingdings" panose="020B0604020202020204" pitchFamily="34" charset="0"/>
              <a:buChar char="§"/>
            </a:pPr>
            <a:r>
              <a:rPr lang="en-US" sz="5600">
                <a:ea typeface="+mn-lt"/>
                <a:cs typeface="+mn-lt"/>
              </a:rPr>
              <a:t>The 15-Minute Delivery Boom: Rapid growth in grocery apps is fueled by the desire to avoid the "last-mile" physical struggle. </a:t>
            </a:r>
            <a:endParaRPr lang="en-US" sz="5600">
              <a:ea typeface="+mn-lt"/>
              <a:cs typeface="Times New Roman"/>
            </a:endParaRPr>
          </a:p>
          <a:p>
            <a:pPr lvl="1">
              <a:buFont typeface="Wingdings" panose="020B0604020202020204" pitchFamily="34" charset="0"/>
              <a:buChar char="§"/>
            </a:pPr>
            <a:r>
              <a:rPr lang="en-US" sz="5600">
                <a:ea typeface="+mn-lt"/>
                <a:cs typeface="Times New Roman"/>
              </a:rPr>
              <a:t>Accessibility:</a:t>
            </a:r>
            <a:r>
              <a:rPr lang="en-US" sz="5600" b="1">
                <a:ea typeface="+mn-lt"/>
                <a:cs typeface="Times New Roman"/>
              </a:rPr>
              <a:t> </a:t>
            </a:r>
            <a:r>
              <a:rPr lang="en-US" sz="5600">
                <a:ea typeface="+mn-lt"/>
                <a:cs typeface="Times New Roman"/>
              </a:rPr>
              <a:t>The customers tend to move to retail shops nearby their homes and pay more price for goods instead of going to supermarkets, shopping malls which are far away due to the physical struggle of carrying the bags.</a:t>
            </a:r>
          </a:p>
          <a:p>
            <a:pPr>
              <a:buFont typeface="Wingdings" panose="020B0604020202020204" pitchFamily="34" charset="0"/>
              <a:buChar char="Ø"/>
            </a:pPr>
            <a:endParaRPr lang="en-US" sz="5600">
              <a:ea typeface="+mn-lt"/>
              <a:cs typeface="Times New Roman"/>
            </a:endParaRPr>
          </a:p>
          <a:p>
            <a:pPr lvl="1">
              <a:buFont typeface="Wingdings" panose="020B0604020202020204" pitchFamily="34" charset="0"/>
              <a:buChar char="§"/>
            </a:pPr>
            <a:endParaRPr lang="en-US" sz="1000" b="1">
              <a:ea typeface="+mn-lt"/>
              <a:cs typeface="Times New Roman"/>
            </a:endParaRPr>
          </a:p>
          <a:p>
            <a:pPr lvl="1">
              <a:buFont typeface="Wingdings" panose="020B0604020202020204" pitchFamily="34" charset="0"/>
              <a:buChar char="§"/>
            </a:pPr>
            <a:endParaRPr lang="en-US" sz="1000">
              <a:ea typeface="+mn-lt"/>
              <a:cs typeface="Times New Roman"/>
            </a:endParaRPr>
          </a:p>
        </p:txBody>
      </p:sp>
    </p:spTree>
    <p:extLst>
      <p:ext uri="{BB962C8B-B14F-4D97-AF65-F5344CB8AC3E}">
        <p14:creationId xmlns:p14="http://schemas.microsoft.com/office/powerpoint/2010/main" val="396914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5380FB-A71D-1E10-7A43-40509B6434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45E530-30E2-9AA0-72C4-CF8A57F4222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Pain Point 2: Not Having the Right Cable </a:t>
            </a:r>
          </a:p>
        </p:txBody>
      </p:sp>
      <p:sp>
        <p:nvSpPr>
          <p:cNvPr id="3" name="Content Placeholder 2">
            <a:extLst>
              <a:ext uri="{FF2B5EF4-FFF2-40B4-BE49-F238E27FC236}">
                <a16:creationId xmlns:a16="http://schemas.microsoft.com/office/drawing/2014/main" id="{EE69259E-016E-137F-D251-7AF5CFE6C759}"/>
              </a:ext>
            </a:extLst>
          </p:cNvPr>
          <p:cNvSpPr>
            <a:spLocks noGrp="1"/>
          </p:cNvSpPr>
          <p:nvPr>
            <p:ph idx="1"/>
          </p:nvPr>
        </p:nvSpPr>
        <p:spPr>
          <a:xfrm>
            <a:off x="1371599" y="1779638"/>
            <a:ext cx="10112478" cy="4783823"/>
          </a:xfrm>
        </p:spPr>
        <p:txBody>
          <a:bodyPr vert="horz" lIns="91440" tIns="45720" rIns="91440" bIns="45720" rtlCol="0" anchor="ctr">
            <a:normAutofit lnSpcReduction="10000"/>
          </a:bodyPr>
          <a:lstStyle/>
          <a:p>
            <a:pPr>
              <a:buFont typeface="Wingdings" panose="020B0604020202020204" pitchFamily="34" charset="0"/>
              <a:buChar char="Ø"/>
            </a:pPr>
            <a:r>
              <a:rPr lang="en-US" sz="1400" b="1"/>
              <a:t>Young to old, many people have technology that moves with them</a:t>
            </a:r>
          </a:p>
          <a:p>
            <a:pPr lvl="1">
              <a:buFont typeface="Wingdings" panose="020B0604020202020204" pitchFamily="34" charset="0"/>
              <a:buChar char="§"/>
            </a:pPr>
            <a:r>
              <a:rPr lang="en-US" sz="1400"/>
              <a:t>Phones, laptops, tablets are used every day for work and personal </a:t>
            </a:r>
          </a:p>
          <a:p>
            <a:pPr lvl="1">
              <a:buFont typeface="Wingdings" panose="020B0604020202020204" pitchFamily="34" charset="0"/>
              <a:buChar char="§"/>
            </a:pPr>
            <a:r>
              <a:rPr lang="en-US" sz="1400"/>
              <a:t>Few different medical devices that require to be recharged</a:t>
            </a:r>
          </a:p>
          <a:p>
            <a:pPr lvl="1">
              <a:buFont typeface="Wingdings" panose="020B0604020202020204" pitchFamily="34" charset="0"/>
              <a:buChar char="§"/>
            </a:pPr>
            <a:r>
              <a:rPr lang="en-US" sz="1400"/>
              <a:t>Each object has different charging ports</a:t>
            </a:r>
          </a:p>
          <a:p>
            <a:pPr>
              <a:buFont typeface="Wingdings" panose="020B0604020202020204" pitchFamily="34" charset="0"/>
              <a:buChar char="Ø"/>
            </a:pPr>
            <a:r>
              <a:rPr lang="en-US" sz="1400" b="1"/>
              <a:t>Frustrations this causes</a:t>
            </a:r>
          </a:p>
          <a:p>
            <a:pPr lvl="1">
              <a:buFont typeface="Wingdings" panose="020B0604020202020204" pitchFamily="34" charset="0"/>
              <a:buChar char="§"/>
            </a:pPr>
            <a:r>
              <a:rPr lang="en-US" sz="1400"/>
              <a:t>Delays – needing to find the right cable for the product takes time away from other tasks (work, relaxing, traveling)</a:t>
            </a:r>
          </a:p>
          <a:p>
            <a:pPr lvl="1">
              <a:buFont typeface="Wingdings" panose="020B0604020202020204" pitchFamily="34" charset="0"/>
              <a:buChar char="§"/>
            </a:pPr>
            <a:r>
              <a:rPr lang="en-US" sz="1400"/>
              <a:t>Costs – thinking to get back-up chargers and putting them most likely to be used can cost anywhere from 10 to 100 dollars depending on the number of chargers purchased.</a:t>
            </a:r>
          </a:p>
          <a:p>
            <a:pPr lvl="1">
              <a:buFont typeface="Wingdings" panose="020B0604020202020204" pitchFamily="34" charset="0"/>
              <a:buChar char="§"/>
            </a:pPr>
            <a:r>
              <a:rPr lang="en-US" sz="1400"/>
              <a:t>Preparation - having to make sure everything is ready to be taken somewhere or it is already placed where it will be needed.</a:t>
            </a:r>
          </a:p>
          <a:p>
            <a:pPr>
              <a:buFont typeface="Wingdings" panose="020B0604020202020204" pitchFamily="34" charset="0"/>
              <a:buChar char="Ø"/>
            </a:pPr>
            <a:r>
              <a:rPr lang="en-US" sz="1400" b="1"/>
              <a:t>Why it matters</a:t>
            </a:r>
          </a:p>
          <a:p>
            <a:pPr lvl="1">
              <a:buFont typeface="Wingdings" panose="020B0604020202020204" pitchFamily="34" charset="0"/>
              <a:buChar char="§"/>
            </a:pPr>
            <a:r>
              <a:rPr lang="en-US" sz="1400"/>
              <a:t>Decreases stress in completing tasks</a:t>
            </a:r>
          </a:p>
          <a:p>
            <a:pPr lvl="1">
              <a:buFont typeface="Wingdings" panose="020B0604020202020204" pitchFamily="34" charset="0"/>
              <a:buChar char="§"/>
            </a:pPr>
            <a:r>
              <a:rPr lang="en-US" sz="1400"/>
              <a:t>More time on things that matter</a:t>
            </a:r>
          </a:p>
          <a:p>
            <a:pPr lvl="1">
              <a:buFont typeface="Wingdings" panose="020B0604020202020204" pitchFamily="34" charset="0"/>
              <a:buChar char="§"/>
            </a:pPr>
            <a:r>
              <a:rPr lang="en-US" sz="1400"/>
              <a:t>Saving money on purchasing chargers</a:t>
            </a:r>
          </a:p>
          <a:p>
            <a:pPr>
              <a:buFont typeface="Wingdings" panose="020B0604020202020204" pitchFamily="34" charset="0"/>
              <a:buChar char="Ø"/>
            </a:pPr>
            <a:r>
              <a:rPr lang="en-US" sz="1400" b="1"/>
              <a:t>Examples</a:t>
            </a:r>
          </a:p>
          <a:p>
            <a:pPr lvl="1">
              <a:buFont typeface="Wingdings" panose="020B0604020202020204" pitchFamily="34" charset="0"/>
              <a:buChar char="§"/>
            </a:pPr>
            <a:r>
              <a:rPr lang="en-US" sz="1400"/>
              <a:t>Some glucose monitors are linked to a phone that help tell the user of low or high glucose which they can than treat but if the phone is dead, they do not know and could end up having an emergency occur</a:t>
            </a:r>
          </a:p>
          <a:p>
            <a:pPr lvl="1">
              <a:buFont typeface="Wingdings" panose="020B0604020202020204" pitchFamily="34" charset="0"/>
              <a:buChar char="§"/>
            </a:pPr>
            <a:r>
              <a:rPr lang="en-US" sz="1400"/>
              <a:t>When trying to complete an assignment that is due that night, but the laptop dies thinking that the charger was packed but end up needing to run to an electronic store to get a new charger.</a:t>
            </a:r>
          </a:p>
        </p:txBody>
      </p:sp>
    </p:spTree>
    <p:extLst>
      <p:ext uri="{BB962C8B-B14F-4D97-AF65-F5344CB8AC3E}">
        <p14:creationId xmlns:p14="http://schemas.microsoft.com/office/powerpoint/2010/main" val="415707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92AC63-1548-0E87-9B60-7A1B618B6B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809EE7-6A88-8C2A-F005-D4939A818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83ECB5D-D1D5-9A19-5481-7CCC2F1F5A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EB5BB1-A5C6-5A06-7308-7BC2346F2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D5989D-2CFE-B855-D704-EF2173D9E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41BF0F-F713-6235-B870-CFF37D6BB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4E3EC8-C0FC-DF32-0A68-07572C4E8EE6}"/>
              </a:ext>
            </a:extLst>
          </p:cNvPr>
          <p:cNvSpPr>
            <a:spLocks noGrp="1"/>
          </p:cNvSpPr>
          <p:nvPr>
            <p:ph idx="1"/>
          </p:nvPr>
        </p:nvSpPr>
        <p:spPr>
          <a:xfrm>
            <a:off x="612473" y="1330790"/>
            <a:ext cx="7290621" cy="4783823"/>
          </a:xfrm>
        </p:spPr>
        <p:txBody>
          <a:bodyPr vert="horz" lIns="91440" tIns="45720" rIns="91440" bIns="45720" rtlCol="0" anchor="ctr">
            <a:normAutofit/>
          </a:bodyPr>
          <a:lstStyle/>
          <a:p>
            <a:pPr>
              <a:buSzPct val="100000"/>
              <a:buFont typeface="Wingdings" panose="05000000000000000000" pitchFamily="2" charset="2"/>
              <a:buChar char="Ø"/>
            </a:pPr>
            <a:r>
              <a:rPr lang="en-US" sz="1400" b="1"/>
              <a:t>Streaming has become one the most popular forms of media consumption but also one of the most decentralized</a:t>
            </a:r>
          </a:p>
          <a:p>
            <a:pPr lvl="1">
              <a:buFont typeface="Wingdings" panose="05000000000000000000" pitchFamily="2" charset="2"/>
              <a:buChar char="§"/>
            </a:pPr>
            <a:r>
              <a:rPr lang="en-US" sz="1400"/>
              <a:t>Each show and movie is only offered on select streaming platforms, forcing consumers to manage multiple subscriptions </a:t>
            </a:r>
          </a:p>
          <a:p>
            <a:pPr lvl="1">
              <a:buFont typeface="Wingdings" panose="05000000000000000000" pitchFamily="2" charset="2"/>
              <a:buChar char="§"/>
            </a:pPr>
            <a:r>
              <a:rPr lang="en-US" sz="1400"/>
              <a:t>Platforms have also begun to produce their own entertainment available exclusively with them, leaving consumers no other option than to subscribe</a:t>
            </a:r>
          </a:p>
          <a:p>
            <a:pPr>
              <a:buFont typeface="Wingdings" panose="05000000000000000000" pitchFamily="2" charset="2"/>
              <a:buChar char="Ø"/>
            </a:pPr>
            <a:r>
              <a:rPr lang="en-US" sz="1400" b="1"/>
              <a:t>Frustrations this causes:</a:t>
            </a:r>
          </a:p>
          <a:p>
            <a:pPr lvl="1">
              <a:buFont typeface="Wingdings" panose="05000000000000000000" pitchFamily="2" charset="2"/>
              <a:buChar char="§"/>
            </a:pPr>
            <a:r>
              <a:rPr lang="en-US" sz="1400"/>
              <a:t>Lack of accessibility – if you don’t have the platform to watch something, you need to purchase a whole new subscription, figure out an alternative (use a friend’s account, pirate, etc.), or simply not watch it</a:t>
            </a:r>
          </a:p>
          <a:p>
            <a:pPr lvl="1">
              <a:buFont typeface="Wingdings" panose="05000000000000000000" pitchFamily="2" charset="2"/>
              <a:buChar char="§"/>
            </a:pPr>
            <a:r>
              <a:rPr lang="en-US" sz="1400"/>
              <a:t>Financial waste – being subscribed to multiple different services to access as little as one thing is a waste of money and lead to financial strain</a:t>
            </a:r>
          </a:p>
          <a:p>
            <a:pPr>
              <a:buFont typeface="Wingdings" panose="05000000000000000000" pitchFamily="2" charset="2"/>
              <a:buChar char="Ø"/>
            </a:pPr>
            <a:r>
              <a:rPr lang="en-US" sz="1400" b="1"/>
              <a:t>Why it matters</a:t>
            </a:r>
          </a:p>
          <a:p>
            <a:pPr lvl="1">
              <a:buFont typeface="Wingdings" panose="05000000000000000000" pitchFamily="2" charset="2"/>
              <a:buChar char="§"/>
            </a:pPr>
            <a:r>
              <a:rPr lang="en-US" sz="1400"/>
              <a:t>This frustration is experienced by anyone who uses streaming as a main source of entertainment, which is the vast majority of people</a:t>
            </a:r>
          </a:p>
        </p:txBody>
      </p:sp>
      <p:sp>
        <p:nvSpPr>
          <p:cNvPr id="15" name="Rectangle 14">
            <a:extLst>
              <a:ext uri="{FF2B5EF4-FFF2-40B4-BE49-F238E27FC236}">
                <a16:creationId xmlns:a16="http://schemas.microsoft.com/office/drawing/2014/main" id="{2675A948-FDAD-F78D-8A59-8AA9AF5E82EE}"/>
              </a:ext>
            </a:extLst>
          </p:cNvPr>
          <p:cNvSpPr/>
          <p:nvPr/>
        </p:nvSpPr>
        <p:spPr>
          <a:xfrm>
            <a:off x="8115299" y="0"/>
            <a:ext cx="4104773" cy="6858001"/>
          </a:xfrm>
          <a:prstGeom prst="rect">
            <a:avLst/>
          </a:prstGeom>
          <a:gradFill flip="none" rotWithShape="1">
            <a:gsLst>
              <a:gs pos="0">
                <a:srgbClr val="125471">
                  <a:shade val="30000"/>
                  <a:satMod val="115000"/>
                </a:srgbClr>
              </a:gs>
              <a:gs pos="50000">
                <a:srgbClr val="125471">
                  <a:shade val="67500"/>
                  <a:satMod val="115000"/>
                </a:srgbClr>
              </a:gs>
              <a:gs pos="100000">
                <a:srgbClr val="125471">
                  <a:shade val="100000"/>
                  <a:satMod val="115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457BDB4C-7095-1692-580C-8A14F8AEA198}"/>
              </a:ext>
            </a:extLst>
          </p:cNvPr>
          <p:cNvGrpSpPr/>
          <p:nvPr/>
        </p:nvGrpSpPr>
        <p:grpSpPr>
          <a:xfrm>
            <a:off x="8264315" y="2192258"/>
            <a:ext cx="3778666" cy="2473484"/>
            <a:chOff x="9426063" y="141464"/>
            <a:chExt cx="2513862" cy="1645551"/>
          </a:xfrm>
        </p:grpSpPr>
        <p:pic>
          <p:nvPicPr>
            <p:cNvPr id="5" name="Picture 2">
              <a:extLst>
                <a:ext uri="{FF2B5EF4-FFF2-40B4-BE49-F238E27FC236}">
                  <a16:creationId xmlns:a16="http://schemas.microsoft.com/office/drawing/2014/main" id="{486F08D2-A741-D668-35D4-899C862FD7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063" y="141466"/>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BDA8C8C3-6396-DB96-6AA5-E18125B0EA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4374" y="141465"/>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62DB940E-5BC7-689C-B152-4DB8F77739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2685" y="141464"/>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99BFD800-6B50-C2DB-66E4-A889A18966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26063" y="1009775"/>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a:extLst>
                <a:ext uri="{FF2B5EF4-FFF2-40B4-BE49-F238E27FC236}">
                  <a16:creationId xmlns:a16="http://schemas.microsoft.com/office/drawing/2014/main" id="{1F7E21D3-3DE8-E66F-FEE3-1FB236E2F5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94374" y="1009775"/>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a:extLst>
                <a:ext uri="{FF2B5EF4-FFF2-40B4-BE49-F238E27FC236}">
                  <a16:creationId xmlns:a16="http://schemas.microsoft.com/office/drawing/2014/main" id="{8E01E968-5EBA-643E-2BD5-BAC11B3EBDE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678" t="13518" r="28679" b="10499"/>
            <a:stretch>
              <a:fillRect/>
            </a:stretch>
          </p:blipFill>
          <p:spPr bwMode="auto">
            <a:xfrm>
              <a:off x="11162685" y="1009775"/>
              <a:ext cx="777240" cy="777240"/>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itle 1">
            <a:extLst>
              <a:ext uri="{FF2B5EF4-FFF2-40B4-BE49-F238E27FC236}">
                <a16:creationId xmlns:a16="http://schemas.microsoft.com/office/drawing/2014/main" id="{C3EA325C-9A12-24F3-0144-78A5930ABC92}"/>
              </a:ext>
            </a:extLst>
          </p:cNvPr>
          <p:cNvSpPr txBox="1">
            <a:spLocks/>
          </p:cNvSpPr>
          <p:nvPr/>
        </p:nvSpPr>
        <p:spPr>
          <a:xfrm>
            <a:off x="1371599" y="294538"/>
            <a:ext cx="9895951" cy="10336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chemeClr val="bg1"/>
                </a:solidFill>
              </a:rPr>
              <a:t>Pain Point 3: Too Many Subscriptions</a:t>
            </a:r>
            <a:endParaRPr lang="en-US" sz="4000">
              <a:solidFill>
                <a:srgbClr val="FFFFFF"/>
              </a:solidFill>
            </a:endParaRPr>
          </a:p>
        </p:txBody>
      </p:sp>
      <p:sp>
        <p:nvSpPr>
          <p:cNvPr id="2" name="Rectangle 1">
            <a:extLst>
              <a:ext uri="{FF2B5EF4-FFF2-40B4-BE49-F238E27FC236}">
                <a16:creationId xmlns:a16="http://schemas.microsoft.com/office/drawing/2014/main" id="{A9D65C26-5672-F593-7E10-F4AE8DC79927}"/>
              </a:ext>
            </a:extLst>
          </p:cNvPr>
          <p:cNvSpPr/>
          <p:nvPr/>
        </p:nvSpPr>
        <p:spPr>
          <a:xfrm>
            <a:off x="8112408" y="6378539"/>
            <a:ext cx="4113953" cy="478346"/>
          </a:xfrm>
          <a:prstGeom prst="rect">
            <a:avLst/>
          </a:prstGeom>
          <a:solidFill>
            <a:srgbClr val="053C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001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7B4E6-CBBD-D8FB-DE43-CA956A7A83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85BF2886-6D05-DBB1-3A2A-24FB97A9E7B8}"/>
              </a:ext>
            </a:extLst>
          </p:cNvPr>
          <p:cNvSpPr>
            <a:spLocks noGrp="1"/>
          </p:cNvSpPr>
          <p:nvPr>
            <p:ph type="title"/>
          </p:nvPr>
        </p:nvSpPr>
        <p:spPr>
          <a:xfrm>
            <a:off x="838200" y="166797"/>
            <a:ext cx="10515600" cy="1325563"/>
          </a:xfrm>
        </p:spPr>
        <p:txBody>
          <a:bodyPr/>
          <a:lstStyle/>
          <a:p>
            <a:r>
              <a:rPr lang="en-US">
                <a:solidFill>
                  <a:schemeClr val="bg1"/>
                </a:solidFill>
              </a:rPr>
              <a:t>Pain Points: Industries</a:t>
            </a:r>
          </a:p>
        </p:txBody>
      </p:sp>
      <p:sp>
        <p:nvSpPr>
          <p:cNvPr id="11" name="Content Placeholder 2">
            <a:extLst>
              <a:ext uri="{FF2B5EF4-FFF2-40B4-BE49-F238E27FC236}">
                <a16:creationId xmlns:a16="http://schemas.microsoft.com/office/drawing/2014/main" id="{732B8668-D47F-AA22-D6BC-E147F928759C}"/>
              </a:ext>
            </a:extLst>
          </p:cNvPr>
          <p:cNvSpPr>
            <a:spLocks noGrp="1"/>
          </p:cNvSpPr>
          <p:nvPr>
            <p:ph idx="1"/>
          </p:nvPr>
        </p:nvSpPr>
        <p:spPr>
          <a:xfrm>
            <a:off x="831935" y="2328990"/>
            <a:ext cx="5254669" cy="4351338"/>
          </a:xfrm>
        </p:spPr>
        <p:txBody>
          <a:bodyPr vert="horz" lIns="91440" tIns="45720" rIns="91440" bIns="45720" rtlCol="0" anchor="t">
            <a:noAutofit/>
          </a:bodyPr>
          <a:lstStyle/>
          <a:p>
            <a:pPr>
              <a:buFont typeface="Wingdings" panose="020B0604020202020204" pitchFamily="34" charset="0"/>
              <a:buChar char="Ø"/>
            </a:pPr>
            <a:r>
              <a:rPr lang="en-US" sz="1400" b="1"/>
              <a:t>The</a:t>
            </a:r>
            <a:r>
              <a:rPr lang="en-US" sz="1400" b="1">
                <a:latin typeface="Aptos"/>
              </a:rPr>
              <a:t> Burden of the Bag</a:t>
            </a:r>
            <a:endParaRPr lang="en-US" sz="1400" b="1"/>
          </a:p>
          <a:p>
            <a:pPr lvl="1">
              <a:buFont typeface="Wingdings" panose="020B0604020202020204" pitchFamily="34" charset="0"/>
              <a:buChar char="§"/>
            </a:pPr>
            <a:r>
              <a:rPr lang="en-US" sz="1400"/>
              <a:t>Grocery/food delivery driver: A product to more  efficiently carry grocery bags can be used by drivers and carriers</a:t>
            </a:r>
          </a:p>
          <a:p>
            <a:pPr lvl="1">
              <a:buFont typeface="Wingdings" panose="020B0604020202020204" pitchFamily="34" charset="0"/>
              <a:buChar char="§"/>
            </a:pPr>
            <a:r>
              <a:rPr lang="en-US" sz="1400"/>
              <a:t>Retail workers: Clothes hangers or different products could be moved around more efficiently.</a:t>
            </a:r>
          </a:p>
          <a:p>
            <a:pPr>
              <a:buFont typeface="Wingdings" panose="020B0604020202020204" pitchFamily="34" charset="0"/>
              <a:buChar char="Ø"/>
            </a:pPr>
            <a:r>
              <a:rPr lang="en-US" sz="1400" b="1"/>
              <a:t>Not</a:t>
            </a:r>
            <a:r>
              <a:rPr lang="en-US" sz="1400" b="1">
                <a:latin typeface="Aptos"/>
              </a:rPr>
              <a:t> Having the Right Cable  </a:t>
            </a:r>
          </a:p>
          <a:p>
            <a:pPr lvl="1">
              <a:buFont typeface="Wingdings" panose="020B0604020202020204" pitchFamily="34" charset="0"/>
              <a:buChar char="§"/>
            </a:pPr>
            <a:r>
              <a:rPr lang="en-US" sz="1400"/>
              <a:t>General industry: Company phones compared to personal phones. Different adapters?</a:t>
            </a:r>
          </a:p>
          <a:p>
            <a:pPr lvl="1">
              <a:buFont typeface="Wingdings" panose="020B0604020202020204" pitchFamily="34" charset="0"/>
              <a:buChar char="§"/>
            </a:pPr>
            <a:r>
              <a:rPr lang="en-US" sz="1400"/>
              <a:t>IT: IT can use this product as a one of their tools on their tool belt</a:t>
            </a:r>
          </a:p>
          <a:p>
            <a:pPr>
              <a:buFont typeface="Wingdings" panose="020B0604020202020204" pitchFamily="34" charset="0"/>
              <a:buChar char="Ø"/>
            </a:pPr>
            <a:r>
              <a:rPr lang="en-US" sz="1400" b="1"/>
              <a:t>Too Many Subscriptions </a:t>
            </a:r>
          </a:p>
          <a:p>
            <a:pPr lvl="1">
              <a:buFont typeface="Wingdings" panose="020B0604020202020204" pitchFamily="34" charset="0"/>
              <a:buChar char="§"/>
            </a:pPr>
            <a:r>
              <a:rPr lang="en-US" sz="1400"/>
              <a:t>Data industries: Stockbrokers/News agencies/data analysts can access the channels and sources without the hassle or need to sign up and participate in multiple media platforms.</a:t>
            </a:r>
          </a:p>
          <a:p>
            <a:pPr>
              <a:buFont typeface="Wingdings" panose="020B0604020202020204" pitchFamily="34" charset="0"/>
              <a:buChar char="Ø"/>
            </a:pPr>
            <a:endParaRPr lang="en-US" sz="1400"/>
          </a:p>
        </p:txBody>
      </p:sp>
      <p:sp>
        <p:nvSpPr>
          <p:cNvPr id="13" name="Content Placeholder 2">
            <a:extLst>
              <a:ext uri="{FF2B5EF4-FFF2-40B4-BE49-F238E27FC236}">
                <a16:creationId xmlns:a16="http://schemas.microsoft.com/office/drawing/2014/main" id="{3EF30C78-ACDA-2FAC-0877-CDF678F4DC22}"/>
              </a:ext>
            </a:extLst>
          </p:cNvPr>
          <p:cNvSpPr txBox="1">
            <a:spLocks/>
          </p:cNvSpPr>
          <p:nvPr/>
        </p:nvSpPr>
        <p:spPr>
          <a:xfrm>
            <a:off x="6088691" y="2324815"/>
            <a:ext cx="5265107"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20B0604020202020204" pitchFamily="34" charset="0"/>
              <a:buChar char="Ø"/>
            </a:pPr>
            <a:r>
              <a:rPr lang="en-US" sz="1400" b="1"/>
              <a:t>The Burden of the Bag</a:t>
            </a:r>
            <a:endParaRPr lang="en-US" sz="1400"/>
          </a:p>
          <a:p>
            <a:pPr lvl="1">
              <a:buFont typeface="Wingdings" panose="020B0604020202020204" pitchFamily="34" charset="0"/>
              <a:buChar char="§"/>
            </a:pPr>
            <a:r>
              <a:rPr lang="en-US" sz="1400"/>
              <a:t>Grocery/food delivery apps: Making said efficiency product mandatory for drivers.</a:t>
            </a:r>
          </a:p>
          <a:p>
            <a:pPr>
              <a:buFont typeface="Wingdings" panose="020B0604020202020204" pitchFamily="34" charset="0"/>
              <a:buChar char="Ø"/>
            </a:pPr>
            <a:r>
              <a:rPr lang="en-US" sz="1400" b="1"/>
              <a:t>Not Having the Right Cable </a:t>
            </a:r>
            <a:r>
              <a:rPr lang="en-US" sz="1400"/>
              <a:t> </a:t>
            </a:r>
            <a:endParaRPr lang="en-US" sz="1400" b="1"/>
          </a:p>
          <a:p>
            <a:pPr lvl="1">
              <a:buFont typeface="Wingdings" panose="020B0604020202020204" pitchFamily="34" charset="0"/>
              <a:buChar char="§"/>
            </a:pPr>
            <a:r>
              <a:rPr lang="en-US" sz="1400"/>
              <a:t>IT: Can push products to solve this problem within companies.</a:t>
            </a:r>
          </a:p>
          <a:p>
            <a:pPr lvl="1">
              <a:buFont typeface="Wingdings" panose="020B0604020202020204" pitchFamily="34" charset="0"/>
              <a:buChar char="§"/>
            </a:pPr>
            <a:r>
              <a:rPr lang="en-US" sz="1400"/>
              <a:t>CEO: Purchase and push this product similar to IT</a:t>
            </a:r>
          </a:p>
          <a:p>
            <a:pPr>
              <a:buFont typeface="Wingdings" panose="020B0604020202020204" pitchFamily="34" charset="0"/>
              <a:buChar char="Ø"/>
            </a:pPr>
            <a:r>
              <a:rPr lang="en-US" sz="1400" b="1"/>
              <a:t>Too Many Subscriptions</a:t>
            </a:r>
            <a:r>
              <a:rPr lang="en-US" sz="1400"/>
              <a:t> </a:t>
            </a:r>
          </a:p>
          <a:p>
            <a:pPr lvl="1">
              <a:buFont typeface="Wingdings" panose="020B0604020202020204" pitchFamily="34" charset="0"/>
              <a:buChar char="§"/>
            </a:pPr>
            <a:r>
              <a:rPr lang="en-US" sz="1400"/>
              <a:t>News Agency: Can partner with this program to streamline adaptation</a:t>
            </a:r>
          </a:p>
        </p:txBody>
      </p:sp>
      <p:sp>
        <p:nvSpPr>
          <p:cNvPr id="15" name="Title 1">
            <a:extLst>
              <a:ext uri="{FF2B5EF4-FFF2-40B4-BE49-F238E27FC236}">
                <a16:creationId xmlns:a16="http://schemas.microsoft.com/office/drawing/2014/main" id="{B485485A-1A04-871F-3E2D-677C2DE7F492}"/>
              </a:ext>
            </a:extLst>
          </p:cNvPr>
          <p:cNvSpPr txBox="1">
            <a:spLocks/>
          </p:cNvSpPr>
          <p:nvPr/>
        </p:nvSpPr>
        <p:spPr>
          <a:xfrm>
            <a:off x="838198" y="133404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Industries Affected</a:t>
            </a:r>
          </a:p>
        </p:txBody>
      </p:sp>
      <p:sp>
        <p:nvSpPr>
          <p:cNvPr id="17" name="Title 1">
            <a:extLst>
              <a:ext uri="{FF2B5EF4-FFF2-40B4-BE49-F238E27FC236}">
                <a16:creationId xmlns:a16="http://schemas.microsoft.com/office/drawing/2014/main" id="{ABD2BC88-749A-D00D-6594-D6A0C5150D6A}"/>
              </a:ext>
            </a:extLst>
          </p:cNvPr>
          <p:cNvSpPr txBox="1">
            <a:spLocks/>
          </p:cNvSpPr>
          <p:nvPr/>
        </p:nvSpPr>
        <p:spPr>
          <a:xfrm>
            <a:off x="6088691" y="1334041"/>
            <a:ext cx="591228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a:latin typeface="+mn-lt"/>
              </a:rPr>
              <a:t>Industries Affecting</a:t>
            </a:r>
          </a:p>
        </p:txBody>
      </p:sp>
    </p:spTree>
    <p:extLst>
      <p:ext uri="{BB962C8B-B14F-4D97-AF65-F5344CB8AC3E}">
        <p14:creationId xmlns:p14="http://schemas.microsoft.com/office/powerpoint/2010/main" val="773121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D01B9-67A7-F2AA-E384-5F42C6353CC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Thank you!</a:t>
            </a:r>
          </a:p>
        </p:txBody>
      </p:sp>
      <p:sp>
        <p:nvSpPr>
          <p:cNvPr id="3" name="Content Placeholder 2">
            <a:extLst>
              <a:ext uri="{FF2B5EF4-FFF2-40B4-BE49-F238E27FC236}">
                <a16:creationId xmlns:a16="http://schemas.microsoft.com/office/drawing/2014/main" id="{3129E697-4337-8928-7666-CC29B3F177D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342900" indent="-342900">
              <a:buFont typeface="Wingdings" panose="020B0604020202020204" pitchFamily="34" charset="0"/>
              <a:buChar char="Ø"/>
            </a:pPr>
            <a:r>
              <a:rPr lang="en-US" sz="2000">
                <a:ea typeface="+mn-lt"/>
                <a:cs typeface="+mn-lt"/>
              </a:rPr>
              <a:t>Small problems create big friction when they happen every day. Carrying groceries, finding the right charger, and managing subscriptions all waste time, money, and energy for millions of people.</a:t>
            </a:r>
          </a:p>
          <a:p>
            <a:pPr marL="342900" indent="-342900">
              <a:buFont typeface="Wingdings" panose="020B0604020202020204" pitchFamily="34" charset="0"/>
              <a:buChar char="Ø"/>
            </a:pPr>
            <a:r>
              <a:rPr lang="en-US" sz="2000">
                <a:ea typeface="+mn-lt"/>
                <a:cs typeface="+mn-lt"/>
              </a:rPr>
              <a:t>These pain points are real, recurring, and solvable, and addressing them creates meaningful value by improving daily life and relieving frustration.</a:t>
            </a:r>
          </a:p>
          <a:p>
            <a:pPr marL="342900" indent="-342900">
              <a:buFont typeface="Wingdings" panose="020B0604020202020204" pitchFamily="34" charset="0"/>
              <a:buChar char="Ø"/>
            </a:pPr>
            <a:r>
              <a:rPr lang="en-US" sz="2000">
                <a:ea typeface="+mn-lt"/>
                <a:cs typeface="+mn-lt"/>
              </a:rPr>
              <a:t>Solving everyday friction is where practical innovation begins.</a:t>
            </a:r>
            <a:endParaRPr lang="en-US" sz="2000"/>
          </a:p>
          <a:p>
            <a:pPr>
              <a:buFont typeface="Wingdings" panose="020B0604020202020204" pitchFamily="34" charset="0"/>
              <a:buChar char="Ø"/>
            </a:pPr>
            <a:endParaRPr lang="en-US" sz="2000"/>
          </a:p>
        </p:txBody>
      </p:sp>
    </p:spTree>
    <p:extLst>
      <p:ext uri="{BB962C8B-B14F-4D97-AF65-F5344CB8AC3E}">
        <p14:creationId xmlns:p14="http://schemas.microsoft.com/office/powerpoint/2010/main" val="1591155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52A537A81CAC6448A99BAF332A30B33" ma:contentTypeVersion="1" ma:contentTypeDescription="Create a new document." ma:contentTypeScope="" ma:versionID="d0409c69260b2260d34234b2c7725781">
  <xsd:schema xmlns:xsd="http://www.w3.org/2001/XMLSchema" xmlns:xs="http://www.w3.org/2001/XMLSchema" xmlns:p="http://schemas.microsoft.com/office/2006/metadata/properties" xmlns:ns3="a55ce254-4adb-40a3-b224-f94d07f0047d" targetNamespace="http://schemas.microsoft.com/office/2006/metadata/properties" ma:root="true" ma:fieldsID="7fc56116a066f5fd252ffd4b13569e5c" ns3:_="">
    <xsd:import namespace="a55ce254-4adb-40a3-b224-f94d07f0047d"/>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5ce254-4adb-40a3-b224-f94d07f004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23700F-AB51-4895-9135-C1EE5A058240}">
  <ds:schemaRefs>
    <ds:schemaRef ds:uri="http://schemas.microsoft.com/sharepoint/v3/contenttype/forms"/>
  </ds:schemaRefs>
</ds:datastoreItem>
</file>

<file path=customXml/itemProps2.xml><?xml version="1.0" encoding="utf-8"?>
<ds:datastoreItem xmlns:ds="http://schemas.openxmlformats.org/officeDocument/2006/customXml" ds:itemID="{0C047EC8-7062-4A4D-AEF1-2DA449ADD2E8}">
  <ds:schemaRefs>
    <ds:schemaRef ds:uri="a55ce254-4adb-40a3-b224-f94d07f0047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EF5615-D6A2-479E-B6D4-6F1B4DA49292}">
  <ds:schemaRefs>
    <ds:schemaRef ds:uri="a55ce254-4adb-40a3-b224-f94d07f0047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2af16cc5-7649-4528-bc4d-3d9b6f64c066}" enabled="0" method="" siteId="{2af16cc5-7649-4528-bc4d-3d9b6f64c066}" removed="1"/>
</clbl:labelList>
</file>

<file path=docProps/app.xml><?xml version="1.0" encoding="utf-8"?>
<Properties xmlns="http://schemas.openxmlformats.org/officeDocument/2006/extended-properties" xmlns:vt="http://schemas.openxmlformats.org/officeDocument/2006/docPropsVTypes">
  <TotalTime>0</TotalTime>
  <Words>1126</Words>
  <Application>Microsoft Office PowerPoint</Application>
  <PresentationFormat>Widescreen</PresentationFormat>
  <Paragraphs>82</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Times New Roman</vt:lpstr>
      <vt:lpstr>Wingdings</vt:lpstr>
      <vt:lpstr>Office Theme</vt:lpstr>
      <vt:lpstr>Convenience for the Inconvenience  Solving the small problems that make life harder than it needs to be</vt:lpstr>
      <vt:lpstr>Our Mission</vt:lpstr>
      <vt:lpstr>Pain Point 1: The Burden of the Bag: Solving the Last-Mile Grocery Strain</vt:lpstr>
      <vt:lpstr>Pain Point 2: Not Having the Right Cable </vt:lpstr>
      <vt:lpstr>PowerPoint Presentation</vt:lpstr>
      <vt:lpstr>Pain Points: Industries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Stantial, Sarah</dc:creator>
  <cp:lastModifiedBy>Rohan Pratap Reddy</cp:lastModifiedBy>
  <cp:revision>5</cp:revision>
  <dcterms:created xsi:type="dcterms:W3CDTF">2026-02-07T23:39:14Z</dcterms:created>
  <dcterms:modified xsi:type="dcterms:W3CDTF">2026-02-09T22:56:49Z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0x010100D52A537A81CAC6448A99BAF332A30B33</vt:lpwstr>
  </property>
</Properties>
</file>