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Prata"/>
      <p:regular r:id="rId15"/>
    </p:embeddedFont>
    <p:embeddedFont>
      <p:font typeface="Prata"/>
      <p:regular r:id="rId16"/>
    </p:embeddedFont>
    <p:embeddedFont>
      <p:font typeface="Manrope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ec.europa.eu/commission/presscorner/detail/en/qanda_21_4614" TargetMode="External"/><Relationship Id="rId2" Type="http://schemas.openxmlformats.org/officeDocument/2006/relationships/hyperlink" Target="https://www.census.gov/newsroom/press-releases/2024/computer-internet-use-2021.html" TargetMode="External"/><Relationship Id="rId3" Type="http://schemas.openxmlformats.org/officeDocument/2006/relationships/hyperlink" Target="https://www.pewresearch.org/internet/fact-sheet/mobile/" TargetMode="External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2259092"/>
            <a:ext cx="1273373" cy="373142"/>
          </a:xfrm>
          <a:prstGeom prst="roundRect">
            <a:avLst>
              <a:gd name="adj" fmla="val 6383"/>
            </a:avLst>
          </a:prstGeom>
          <a:solidFill>
            <a:srgbClr val="391F13"/>
          </a:solidFill>
          <a:ln/>
        </p:spPr>
      </p:sp>
      <p:sp>
        <p:nvSpPr>
          <p:cNvPr id="4" name="Text 1"/>
          <p:cNvSpPr/>
          <p:nvPr/>
        </p:nvSpPr>
        <p:spPr>
          <a:xfrm>
            <a:off x="6399252" y="2318623"/>
            <a:ext cx="103524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UX RESEARCH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280190" y="2711529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Persona Report and Presentation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6280190" y="4249341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deep dive into the everyday friction of cable chaos — and the professional whose productivity depends on solving it.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280190" y="5206811"/>
            <a:ext cx="7556421" cy="32385"/>
          </a:xfrm>
          <a:prstGeom prst="rect">
            <a:avLst/>
          </a:prstGeom>
          <a:solidFill>
            <a:srgbClr val="BDA189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280190" y="5462349"/>
            <a:ext cx="75564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Group: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Everyday Friction  | 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Members: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Shannon Cullen, Ryan Jankowski, Rohan Pratap Reddy Ravula, Annanahmed Shaikh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97230"/>
            <a:ext cx="1291828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8448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764381"/>
            <a:ext cx="103846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164908"/>
            <a:ext cx="1143500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Never Having the Right Cable When You Need It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08264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You're always one cable short — the right one is in your other bag, at home, or simply doesn't exist for the specific device combination you're trying to connect right now.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0915" y="2940963"/>
            <a:ext cx="6565106" cy="2889766"/>
          </a:xfrm>
          <a:prstGeom prst="roundRect">
            <a:avLst>
              <a:gd name="adj" fmla="val 1030"/>
            </a:avLst>
          </a:prstGeom>
          <a:solidFill>
            <a:srgbClr val="84482D"/>
          </a:solidFill>
          <a:ln/>
        </p:spPr>
      </p:sp>
      <p:sp>
        <p:nvSpPr>
          <p:cNvPr id="7" name="Text 5"/>
          <p:cNvSpPr/>
          <p:nvPr/>
        </p:nvSpPr>
        <p:spPr>
          <a:xfrm>
            <a:off x="849273" y="313932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Immediate Impact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49273" y="3647837"/>
            <a:ext cx="6168390" cy="1408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Wasted time hunting, borrowing, or buying cables on the spot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Dead devices during travel, meetings, or critical work moments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Frustration from carrying multiple "just in case" cables that still aren't enough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3139321"/>
            <a:ext cx="257960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Bigger Consequences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564874" y="3647837"/>
            <a:ext cx="6279356" cy="211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Repeated purchases of the same cable for different locations — car, office, home, travel bag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Cable clutter and e-waste from obsolete or duplicate connectors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Damaged ports from forcing wrong cables or worn-out adapters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Lost productivity and professional credibility when you can't charge or present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6053971"/>
            <a:ext cx="13042821" cy="1478280"/>
          </a:xfrm>
          <a:prstGeom prst="roundRect">
            <a:avLst>
              <a:gd name="adj" fmla="val 2014"/>
            </a:avLst>
          </a:prstGeom>
          <a:solidFill>
            <a:srgbClr val="391F13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6356866"/>
            <a:ext cx="248007" cy="19835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38513" y="6301859"/>
            <a:ext cx="1219973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Gap: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Universal standards like USB-C promised to solve this, but the reality is a messy mix of Lightning, USB-A, HDMI, micro-USB, and proprietary connectors that change device-to-device. Even worse — you might </a:t>
            </a:r>
            <a:pPr algn="l" indent="0" marL="0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own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the right cable, but it's simply not </a:t>
            </a:r>
            <a:pPr algn="l" indent="0" marL="0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with you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when the moment strikes.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09851"/>
            <a:ext cx="1174313" cy="324326"/>
          </a:xfrm>
          <a:prstGeom prst="roundRect">
            <a:avLst>
              <a:gd name="adj" fmla="val 6609"/>
            </a:avLst>
          </a:prstGeom>
          <a:solidFill>
            <a:srgbClr val="391F13"/>
          </a:solidFill>
          <a:ln/>
        </p:spPr>
      </p:sp>
      <p:sp>
        <p:nvSpPr>
          <p:cNvPr id="3" name="Text 1"/>
          <p:cNvSpPr/>
          <p:nvPr/>
        </p:nvSpPr>
        <p:spPr>
          <a:xfrm>
            <a:off x="900946" y="763429"/>
            <a:ext cx="960001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PERSONA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3790" y="1098471"/>
            <a:ext cx="5121235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Meet Jeffrey Carbonella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665202" y="1897737"/>
            <a:ext cx="4943237" cy="4429363"/>
          </a:xfrm>
          <a:prstGeom prst="roundRect">
            <a:avLst>
              <a:gd name="adj" fmla="val 605"/>
            </a:avLst>
          </a:prstGeom>
          <a:solidFill>
            <a:srgbClr val="8448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796" y="2078593"/>
            <a:ext cx="1317308" cy="13173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3796" y="357675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Jeffrey Carbonella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43796" y="4016454"/>
            <a:ext cx="458604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Manager, National Construction Management Firm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796" y="4704040"/>
            <a:ext cx="458604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📍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Houston, Texas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3796" y="5127784"/>
            <a:ext cx="458604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Devices: Laptop, personal phone, company phone, calculator, wireless earbuds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23240" y="2042398"/>
            <a:ext cx="7920871" cy="1357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Jeffrey lives and works at the intersection of high-stakes decisions and constant mobility. He commutes to job sites, flies weekly to meet employers across the country, and manages complex timelines — all while staying connected across multiple devices. His greatest constraint isn't time or budget. It's the mental capacity required to perform at peak level in a consistently demanding environment.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0153" y="3586103"/>
            <a:ext cx="267891" cy="2678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03670" y="3580567"/>
            <a:ext cx="3279577" cy="557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High-Accountability Professional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6503670" y="4299228"/>
            <a:ext cx="3279577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Dead laptops in meetings damage reputation. He won't let the same mistake happen twice.</a:t>
            </a:r>
            <a:endParaRPr lang="en-US" sz="14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1018" y="3586103"/>
            <a:ext cx="267891" cy="2678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64535" y="3580567"/>
            <a:ext cx="3279577" cy="557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Time-Optimizer &amp; Systems Thinker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10564535" y="4299228"/>
            <a:ext cx="3279577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 eliminates recurring friction permanently rather than tolerating it repeatedly.</a:t>
            </a:r>
            <a:endParaRPr lang="en-US" sz="14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0153" y="5440620"/>
            <a:ext cx="267891" cy="26789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03670" y="5435084"/>
            <a:ext cx="4144328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Mentally Loaded, Performance-Driven</a:t>
            </a:r>
            <a:endParaRPr lang="en-US" sz="1750" dirty="0"/>
          </a:p>
        </p:txBody>
      </p:sp>
      <p:sp>
        <p:nvSpPr>
          <p:cNvPr id="20" name="Text 14"/>
          <p:cNvSpPr/>
          <p:nvPr/>
        </p:nvSpPr>
        <p:spPr>
          <a:xfrm>
            <a:off x="6503670" y="5874782"/>
            <a:ext cx="734044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Charging anxiety is cognitive clutter. He values tools that free focus for meaningful work.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793790" y="6507956"/>
            <a:ext cx="6441043" cy="1011674"/>
          </a:xfrm>
          <a:prstGeom prst="roundRect">
            <a:avLst>
              <a:gd name="adj" fmla="val 2648"/>
            </a:avLst>
          </a:prstGeom>
          <a:solidFill>
            <a:srgbClr val="404245"/>
          </a:solidFill>
          <a:ln/>
        </p:spPr>
      </p:sp>
      <p:sp>
        <p:nvSpPr>
          <p:cNvPr id="22" name="Text 16"/>
          <p:cNvSpPr/>
          <p:nvPr/>
        </p:nvSpPr>
        <p:spPr>
          <a:xfrm>
            <a:off x="972383" y="6686550"/>
            <a:ext cx="2232779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🏗️</a:t>
            </a:r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Mobile Operator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972383" y="7069574"/>
            <a:ext cx="6083856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Lean setups are operational necessities, not aesthetics.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395567" y="6507956"/>
            <a:ext cx="6441043" cy="1011674"/>
          </a:xfrm>
          <a:prstGeom prst="roundRect">
            <a:avLst>
              <a:gd name="adj" fmla="val 2648"/>
            </a:avLst>
          </a:prstGeom>
          <a:solidFill>
            <a:srgbClr val="404245"/>
          </a:solidFill>
          <a:ln/>
        </p:spPr>
      </p:sp>
      <p:sp>
        <p:nvSpPr>
          <p:cNvPr id="25" name="Text 19"/>
          <p:cNvSpPr/>
          <p:nvPr/>
        </p:nvSpPr>
        <p:spPr>
          <a:xfrm>
            <a:off x="7574161" y="6686550"/>
            <a:ext cx="2412683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⚡</a:t>
            </a:r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 Momentum-Driven</a:t>
            </a:r>
            <a:endParaRPr lang="en-US" sz="1750" dirty="0"/>
          </a:p>
        </p:txBody>
      </p:sp>
      <p:sp>
        <p:nvSpPr>
          <p:cNvPr id="26" name="Text 20"/>
          <p:cNvSpPr/>
          <p:nvPr/>
        </p:nvSpPr>
        <p:spPr>
          <a:xfrm>
            <a:off x="7574161" y="7069574"/>
            <a:ext cx="6083856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Reliability preserves execution, performance, and reputation.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03540"/>
            <a:ext cx="1152168" cy="316230"/>
          </a:xfrm>
          <a:prstGeom prst="roundRect">
            <a:avLst>
              <a:gd name="adj" fmla="val 6402"/>
            </a:avLst>
          </a:prstGeom>
          <a:noFill/>
          <a:ln w="7620">
            <a:solidFill>
              <a:srgbClr val="8448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02613" y="761762"/>
            <a:ext cx="934522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DAY IN THE LIFE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93790" y="1077039"/>
            <a:ext cx="4217551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 Day With Jeffrey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303770" y="1819156"/>
            <a:ext cx="22860" cy="4063246"/>
          </a:xfrm>
          <a:prstGeom prst="roundRect">
            <a:avLst>
              <a:gd name="adj" fmla="val 110698"/>
            </a:avLst>
          </a:prstGeom>
          <a:solidFill>
            <a:srgbClr val="595B5E"/>
          </a:solidFill>
          <a:ln/>
        </p:spPr>
      </p:sp>
      <p:sp>
        <p:nvSpPr>
          <p:cNvPr id="6" name="Shape 4"/>
          <p:cNvSpPr/>
          <p:nvPr/>
        </p:nvSpPr>
        <p:spPr>
          <a:xfrm>
            <a:off x="6642259" y="1997512"/>
            <a:ext cx="506016" cy="22860"/>
          </a:xfrm>
          <a:prstGeom prst="roundRect">
            <a:avLst>
              <a:gd name="adj" fmla="val 110698"/>
            </a:avLst>
          </a:prstGeom>
          <a:solidFill>
            <a:srgbClr val="595B5E"/>
          </a:solidFill>
          <a:ln/>
        </p:spPr>
      </p:sp>
      <p:sp>
        <p:nvSpPr>
          <p:cNvPr id="7" name="Shape 5"/>
          <p:cNvSpPr/>
          <p:nvPr/>
        </p:nvSpPr>
        <p:spPr>
          <a:xfrm>
            <a:off x="7125414" y="1819156"/>
            <a:ext cx="379571" cy="379571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8" name="Text 6"/>
          <p:cNvSpPr/>
          <p:nvPr/>
        </p:nvSpPr>
        <p:spPr>
          <a:xfrm>
            <a:off x="7188696" y="1850827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363045" y="1877139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Before Sunrise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93790" y="2226588"/>
            <a:ext cx="5677972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Scanning overnight emails, preparing for the day ahead before heading to the job site.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82126" y="2958941"/>
            <a:ext cx="506016" cy="22860"/>
          </a:xfrm>
          <a:prstGeom prst="roundRect">
            <a:avLst>
              <a:gd name="adj" fmla="val 110698"/>
            </a:avLst>
          </a:prstGeom>
          <a:solidFill>
            <a:srgbClr val="595B5E"/>
          </a:solidFill>
          <a:ln/>
        </p:spPr>
      </p:sp>
      <p:sp>
        <p:nvSpPr>
          <p:cNvPr id="12" name="Shape 10"/>
          <p:cNvSpPr/>
          <p:nvPr/>
        </p:nvSpPr>
        <p:spPr>
          <a:xfrm>
            <a:off x="7125414" y="2780586"/>
            <a:ext cx="379571" cy="379571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13" name="Text 11"/>
          <p:cNvSpPr/>
          <p:nvPr/>
        </p:nvSpPr>
        <p:spPr>
          <a:xfrm>
            <a:off x="7188696" y="2812256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158639" y="2838569"/>
            <a:ext cx="2497098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8:00 AM — Site Meeting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158639" y="3188018"/>
            <a:ext cx="5677972" cy="749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Laptop open, phones buzzing. A subcontractor requests to review drawings on screen. Jeffrey reaches for his charger — wrong cable. The room waits. Five minutes lost. Small lapse, big embarrassment.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42259" y="3806071"/>
            <a:ext cx="506016" cy="22860"/>
          </a:xfrm>
          <a:prstGeom prst="roundRect">
            <a:avLst>
              <a:gd name="adj" fmla="val 110698"/>
            </a:avLst>
          </a:prstGeom>
          <a:solidFill>
            <a:srgbClr val="595B5E"/>
          </a:solidFill>
          <a:ln/>
        </p:spPr>
      </p:sp>
      <p:sp>
        <p:nvSpPr>
          <p:cNvPr id="17" name="Shape 15"/>
          <p:cNvSpPr/>
          <p:nvPr/>
        </p:nvSpPr>
        <p:spPr>
          <a:xfrm>
            <a:off x="7125414" y="3627715"/>
            <a:ext cx="379571" cy="379571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18" name="Text 16"/>
          <p:cNvSpPr/>
          <p:nvPr/>
        </p:nvSpPr>
        <p:spPr>
          <a:xfrm>
            <a:off x="7188696" y="3659386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4363045" y="3685699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Noon — Airport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93790" y="4035147"/>
            <a:ext cx="5677972" cy="749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Company phone dips below 10%. He packed a charger — just not the right cable for this device. Two hours offline isn't downtime; it's lost momentum.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82126" y="4653201"/>
            <a:ext cx="506016" cy="22860"/>
          </a:xfrm>
          <a:prstGeom prst="roundRect">
            <a:avLst>
              <a:gd name="adj" fmla="val 110698"/>
            </a:avLst>
          </a:prstGeom>
          <a:solidFill>
            <a:srgbClr val="595B5E"/>
          </a:solidFill>
          <a:ln/>
        </p:spPr>
      </p:sp>
      <p:sp>
        <p:nvSpPr>
          <p:cNvPr id="22" name="Shape 20"/>
          <p:cNvSpPr/>
          <p:nvPr/>
        </p:nvSpPr>
        <p:spPr>
          <a:xfrm>
            <a:off x="7125414" y="4474845"/>
            <a:ext cx="379571" cy="379571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23" name="Text 21"/>
          <p:cNvSpPr/>
          <p:nvPr/>
        </p:nvSpPr>
        <p:spPr>
          <a:xfrm>
            <a:off x="7188696" y="4506516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8158639" y="4532828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Evening — Hotel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158639" y="4882277"/>
            <a:ext cx="5677972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Preparing for a client presentation. Earbuds die mid-call. Different cable. Same frustration. Again.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46798" y="6204823"/>
            <a:ext cx="12789813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a man who optimizes everything, the wrong cable isn't mere inconvenience — it's friction, distraction, and a direct threat to the reliability his reputation depends on.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93790" y="6043613"/>
            <a:ext cx="22860" cy="821769"/>
          </a:xfrm>
          <a:prstGeom prst="rect">
            <a:avLst/>
          </a:prstGeom>
          <a:solidFill>
            <a:srgbClr val="84482D"/>
          </a:solidFill>
          <a:ln/>
        </p:spPr>
      </p:sp>
      <p:sp>
        <p:nvSpPr>
          <p:cNvPr id="28" name="Text 26"/>
          <p:cNvSpPr/>
          <p:nvPr/>
        </p:nvSpPr>
        <p:spPr>
          <a:xfrm>
            <a:off x="793790" y="7026593"/>
            <a:ext cx="13042821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Jeffrey represents a wide variety of consumers who share this pain point — America's executive and corporate professionals on the go, devices needed at the ready, with constant pressure to be prepared.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23067"/>
            <a:ext cx="1517571" cy="348377"/>
          </a:xfrm>
          <a:prstGeom prst="roundRect">
            <a:avLst>
              <a:gd name="adj" fmla="val 6495"/>
            </a:avLst>
          </a:prstGeom>
          <a:solidFill>
            <a:srgbClr val="391F13"/>
          </a:solidFill>
          <a:ln/>
        </p:spPr>
      </p:sp>
      <p:sp>
        <p:nvSpPr>
          <p:cNvPr id="3" name="Text 1"/>
          <p:cNvSpPr/>
          <p:nvPr/>
        </p:nvSpPr>
        <p:spPr>
          <a:xfrm>
            <a:off x="906899" y="779621"/>
            <a:ext cx="1291352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MARKET CONTEXT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93790" y="1143000"/>
            <a:ext cx="4713684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Market Snapshot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793790" y="2000726"/>
            <a:ext cx="13042821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scale of this problem is vast. Virtually every American carries a device — and the majority carry several. The charging cable problem isn't a niche inconvenience; it's a universal daily friction point affecting hundreds of millions of people.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98803" y="2884765"/>
            <a:ext cx="3988356" cy="62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850"/>
              </a:lnSpc>
              <a:buNone/>
            </a:pPr>
            <a:r>
              <a:rPr lang="en-US" sz="4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98%</a:t>
            </a:r>
            <a:endParaRPr lang="en-US" sz="4850" dirty="0"/>
          </a:p>
        </p:txBody>
      </p:sp>
      <p:sp>
        <p:nvSpPr>
          <p:cNvPr id="7" name="Text 5"/>
          <p:cNvSpPr/>
          <p:nvPr/>
        </p:nvSpPr>
        <p:spPr>
          <a:xfrm>
            <a:off x="1714500" y="373534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Own a Cellphone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93790" y="4137422"/>
            <a:ext cx="4198382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 of 2023, nearly all Americans own a cell phone, with 91% owning a smartphone — up from just 35% in 2011. (Pew Research)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321022" y="2884765"/>
            <a:ext cx="3988356" cy="62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850"/>
              </a:lnSpc>
              <a:buNone/>
            </a:pPr>
            <a:r>
              <a:rPr lang="en-US" sz="4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81%</a:t>
            </a:r>
            <a:endParaRPr lang="en-US" sz="4850" dirty="0"/>
          </a:p>
        </p:txBody>
      </p:sp>
      <p:sp>
        <p:nvSpPr>
          <p:cNvPr id="10" name="Text 8"/>
          <p:cNvSpPr/>
          <p:nvPr/>
        </p:nvSpPr>
        <p:spPr>
          <a:xfrm>
            <a:off x="6136719" y="373534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Have a Computer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5216009" y="4137422"/>
            <a:ext cx="4198382" cy="117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81% of U.S. households owned a desktop or laptop as of 2021, meaning most people manage multiple devices simultaneously. (US Census Bureau)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743242" y="2884765"/>
            <a:ext cx="3988356" cy="62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850"/>
              </a:lnSpc>
              <a:buNone/>
            </a:pPr>
            <a:r>
              <a:rPr lang="en-US" sz="4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62%</a:t>
            </a:r>
            <a:endParaRPr lang="en-US" sz="4850" dirty="0"/>
          </a:p>
        </p:txBody>
      </p:sp>
      <p:sp>
        <p:nvSpPr>
          <p:cNvPr id="13" name="Text 11"/>
          <p:cNvSpPr/>
          <p:nvPr/>
        </p:nvSpPr>
        <p:spPr>
          <a:xfrm>
            <a:off x="10558939" y="373534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Own a Tablet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9638228" y="4137422"/>
            <a:ext cx="4198382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62% of U.S. households also owned a tablet, further multiplying the number of connectors and cables required per person.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57939" y="5515689"/>
            <a:ext cx="6563082" cy="1990844"/>
          </a:xfrm>
          <a:prstGeom prst="roundRect">
            <a:avLst>
              <a:gd name="adj" fmla="val 1421"/>
            </a:avLst>
          </a:prstGeom>
          <a:solidFill>
            <a:srgbClr val="84482D"/>
          </a:solidFill>
          <a:ln/>
        </p:spPr>
      </p:sp>
      <p:sp>
        <p:nvSpPr>
          <p:cNvPr id="16" name="Text 14"/>
          <p:cNvSpPr/>
          <p:nvPr/>
        </p:nvSpPr>
        <p:spPr>
          <a:xfrm>
            <a:off x="846415" y="5694759"/>
            <a:ext cx="3371374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Strategic Investors &amp; Partners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846415" y="6168509"/>
            <a:ext cx="6186130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Companies like </a:t>
            </a:r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Google, Apple, Amazon, HP, Samsung,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and </a:t>
            </a:r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Dell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have enormous incentive to support a solution — fixing a problem their own users experience daily directly boosts loyalty, reputation, and revenue.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552849" y="5694759"/>
            <a:ext cx="3304223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Real Cost of the Problem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7552849" y="6168509"/>
            <a:ext cx="6291382" cy="117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 having the right charger means emergency purchases, wasted time, and cognitive burden. Multiply that across millions of professionals and the aggregate cost — in dollars, hours, and frustration — is staggering. The market opportunity is equally large.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37235"/>
            <a:ext cx="1590199" cy="339566"/>
          </a:xfrm>
          <a:prstGeom prst="roundRect">
            <a:avLst>
              <a:gd name="adj" fmla="val 6313"/>
            </a:avLst>
          </a:prstGeom>
          <a:noFill/>
          <a:ln w="7620">
            <a:solidFill>
              <a:srgbClr val="8448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08566" y="798433"/>
            <a:ext cx="1360646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VALUE PROPOSITION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3790" y="1141095"/>
            <a:ext cx="725447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 a Solution Means for Jeffrey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93790" y="1940362"/>
            <a:ext cx="1304282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right solution doesn't just solve a technical problem — it gives Jeffrey back his confidence, his time, and his mental clarity. Here's what's genuinely at stake: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93790" y="2392680"/>
            <a:ext cx="6441043" cy="1592699"/>
          </a:xfrm>
          <a:prstGeom prst="roundRect">
            <a:avLst>
              <a:gd name="adj" fmla="val 6889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0930" y="2392680"/>
            <a:ext cx="91440" cy="1592699"/>
          </a:xfrm>
          <a:prstGeom prst="roundRect">
            <a:avLst>
              <a:gd name="adj" fmla="val 29302"/>
            </a:avLst>
          </a:prstGeom>
          <a:solidFill>
            <a:srgbClr val="84482D"/>
          </a:solidFill>
          <a:ln/>
        </p:spPr>
      </p:sp>
      <p:sp>
        <p:nvSpPr>
          <p:cNvPr id="8" name="Text 6"/>
          <p:cNvSpPr/>
          <p:nvPr/>
        </p:nvSpPr>
        <p:spPr>
          <a:xfrm>
            <a:off x="1063823" y="2594134"/>
            <a:ext cx="3635812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Restored Professional Confidence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63823" y="2969538"/>
            <a:ext cx="5969556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Never starting a meeting with an apology for a dead laptop or missing dongle. Maintaining a rock-solid "prepared for anything" reputation.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95567" y="2392680"/>
            <a:ext cx="6441043" cy="1592699"/>
          </a:xfrm>
          <a:prstGeom prst="roundRect">
            <a:avLst>
              <a:gd name="adj" fmla="val 6889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72707" y="2392680"/>
            <a:ext cx="91440" cy="1592699"/>
          </a:xfrm>
          <a:prstGeom prst="roundRect">
            <a:avLst>
              <a:gd name="adj" fmla="val 29302"/>
            </a:avLst>
          </a:prstGeom>
          <a:solidFill>
            <a:srgbClr val="84482D"/>
          </a:solidFill>
          <a:ln/>
        </p:spPr>
      </p:sp>
      <p:sp>
        <p:nvSpPr>
          <p:cNvPr id="12" name="Text 10"/>
          <p:cNvSpPr/>
          <p:nvPr/>
        </p:nvSpPr>
        <p:spPr>
          <a:xfrm>
            <a:off x="7665601" y="2594134"/>
            <a:ext cx="2391847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Reclaimed "Lost" Time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65601" y="2969538"/>
            <a:ext cx="5969556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Saving an estimated </a:t>
            </a:r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2–3 hours per month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previously spent hunting for cables, untangling drawers, or making emergency trips to buy overpriced replacements.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3790" y="4146113"/>
            <a:ext cx="6441043" cy="1592699"/>
          </a:xfrm>
          <a:prstGeom prst="roundRect">
            <a:avLst>
              <a:gd name="adj" fmla="val 6889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0930" y="4146113"/>
            <a:ext cx="91440" cy="1592699"/>
          </a:xfrm>
          <a:prstGeom prst="roundRect">
            <a:avLst>
              <a:gd name="adj" fmla="val 29302"/>
            </a:avLst>
          </a:prstGeom>
          <a:solidFill>
            <a:srgbClr val="84482D"/>
          </a:solidFill>
          <a:ln/>
        </p:spPr>
      </p:sp>
      <p:sp>
        <p:nvSpPr>
          <p:cNvPr id="16" name="Text 14"/>
          <p:cNvSpPr/>
          <p:nvPr/>
        </p:nvSpPr>
        <p:spPr>
          <a:xfrm>
            <a:off x="1063823" y="434756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Mental Decoupling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063823" y="4722971"/>
            <a:ext cx="5969556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Eliminating the "charging anxiety" checklist before leaving the house — freeing cognitive space for work and family instead of inventory management.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95567" y="4146113"/>
            <a:ext cx="6441043" cy="1592699"/>
          </a:xfrm>
          <a:prstGeom prst="roundRect">
            <a:avLst>
              <a:gd name="adj" fmla="val 6889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72707" y="4146113"/>
            <a:ext cx="91440" cy="1592699"/>
          </a:xfrm>
          <a:prstGeom prst="roundRect">
            <a:avLst>
              <a:gd name="adj" fmla="val 29302"/>
            </a:avLst>
          </a:prstGeom>
          <a:solidFill>
            <a:srgbClr val="84482D"/>
          </a:solidFill>
          <a:ln/>
        </p:spPr>
      </p:sp>
      <p:sp>
        <p:nvSpPr>
          <p:cNvPr id="20" name="Text 18"/>
          <p:cNvSpPr/>
          <p:nvPr/>
        </p:nvSpPr>
        <p:spPr>
          <a:xfrm>
            <a:off x="7665601" y="434756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Optimized Mobility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665601" y="4722971"/>
            <a:ext cx="5969556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Reducing daily carry weight and bag clutter by </a:t>
            </a:r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60% or more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enabling a truly lean, one-bag commute without fear of being stranded.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93790" y="5899547"/>
            <a:ext cx="6441043" cy="1592699"/>
          </a:xfrm>
          <a:prstGeom prst="roundRect">
            <a:avLst>
              <a:gd name="adj" fmla="val 6889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0930" y="5899547"/>
            <a:ext cx="91440" cy="1592699"/>
          </a:xfrm>
          <a:prstGeom prst="roundRect">
            <a:avLst>
              <a:gd name="adj" fmla="val 29302"/>
            </a:avLst>
          </a:prstGeom>
          <a:solidFill>
            <a:srgbClr val="84482D"/>
          </a:solidFill>
          <a:ln/>
        </p:spPr>
      </p:sp>
      <p:sp>
        <p:nvSpPr>
          <p:cNvPr id="24" name="Text 22"/>
          <p:cNvSpPr/>
          <p:nvPr/>
        </p:nvSpPr>
        <p:spPr>
          <a:xfrm>
            <a:off x="1063823" y="6101001"/>
            <a:ext cx="42876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Financial &amp; Environmental Stewardship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1063823" y="6476405"/>
            <a:ext cx="5969556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Stopping the cycle of panic-buying duplicate $30 cables and reducing personal e-waste from broken or obsolete proprietary connectors.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95567" y="5899547"/>
            <a:ext cx="6441043" cy="1592699"/>
          </a:xfrm>
          <a:prstGeom prst="roundRect">
            <a:avLst>
              <a:gd name="adj" fmla="val 6889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72707" y="5899547"/>
            <a:ext cx="91440" cy="1592699"/>
          </a:xfrm>
          <a:prstGeom prst="roundRect">
            <a:avLst>
              <a:gd name="adj" fmla="val 29302"/>
            </a:avLst>
          </a:prstGeom>
          <a:solidFill>
            <a:srgbClr val="84482D"/>
          </a:solidFill>
          <a:ln/>
        </p:spPr>
      </p:sp>
      <p:sp>
        <p:nvSpPr>
          <p:cNvPr id="28" name="Text 26"/>
          <p:cNvSpPr/>
          <p:nvPr/>
        </p:nvSpPr>
        <p:spPr>
          <a:xfrm>
            <a:off x="7665601" y="6101001"/>
            <a:ext cx="2906911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Uninterrupted Productivity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7665601" y="6476405"/>
            <a:ext cx="5969556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Ensuring critical workflows — 11th-hour project edits, long-distance travel — are never throttled by a </a:t>
            </a:r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0% battery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warning at the worst possible moment.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48646"/>
            <a:ext cx="973693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8448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1615797"/>
            <a:ext cx="72032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SOURCES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016323"/>
            <a:ext cx="580536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Resources &amp; References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93405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following sources informed our research into device ownership, market sizing, and the push toward universal charging standards: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474839"/>
            <a:ext cx="4215289" cy="3206115"/>
          </a:xfrm>
          <a:prstGeom prst="roundRect">
            <a:avLst>
              <a:gd name="adj" fmla="val 929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5008" y="3696057"/>
            <a:ext cx="377285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European Commission — Common Charger Mandate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15008" y="4435435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Questions and Answers: Common charger solution for electronic devices. Press Release, Brussels, Belgium, Oct. 4, 2022.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15008" y="5824657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u="sng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ec.europa.eu — Common Charger Q&amp;A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207437" y="3474839"/>
            <a:ext cx="4215408" cy="3206115"/>
          </a:xfrm>
          <a:prstGeom prst="roundRect">
            <a:avLst>
              <a:gd name="adj" fmla="val 929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28655" y="3696057"/>
            <a:ext cx="377297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U.S. Census Bureau — Computer &amp; Internet Use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428655" y="4435435"/>
            <a:ext cx="377297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Computer and Internet Use in the United States: 2021. Press Release, 2024. Covers household ownership of desktops, laptops, and tablets nationwide.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428655" y="5824657"/>
            <a:ext cx="377297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u="sng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census.gov — Computer Internet Use 2021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621203" y="3474839"/>
            <a:ext cx="4215289" cy="3206115"/>
          </a:xfrm>
          <a:prstGeom prst="roundRect">
            <a:avLst>
              <a:gd name="adj" fmla="val 929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42421" y="3696057"/>
            <a:ext cx="377285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Pew Research Center — Mobile Fact Sheet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842421" y="4435435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Mobile device ownership trends from 2011 to 2023, including the dramatic rise in smartphone adoption across American adults.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842421" y="5824657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u="sng" dirty="0">
                <a:solidFill>
                  <a:srgbClr val="84482D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pewresearch.org — Mobile Fact Sheet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59938"/>
            <a:ext cx="6847284" cy="8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00"/>
              </a:lnSpc>
              <a:buNone/>
            </a:pPr>
            <a:r>
              <a:rPr lang="en-US" sz="53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Thank You</a:t>
            </a:r>
            <a:endParaRPr lang="en-US" sz="5350" dirty="0"/>
          </a:p>
        </p:txBody>
      </p:sp>
      <p:sp>
        <p:nvSpPr>
          <p:cNvPr id="4" name="Text 1"/>
          <p:cNvSpPr/>
          <p:nvPr/>
        </p:nvSpPr>
        <p:spPr>
          <a:xfrm>
            <a:off x="6280190" y="3513415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appreciate your time and attention. The everyday friction of cable chaos may seem minor in isolation — but for professionals like Jeffrey, it represents a meaningful opportunity to design solutions that restore confidence, reclaim time, and reduce cognitive load.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5105965"/>
            <a:ext cx="7556421" cy="32385"/>
          </a:xfrm>
          <a:prstGeom prst="rect">
            <a:avLst/>
          </a:prstGeom>
          <a:solidFill>
            <a:srgbClr val="BDA189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280190" y="5361503"/>
            <a:ext cx="75564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Group: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Everyday Friction  |  Shannon Cullen · Ryan Jankowski · Rohan Pratap Reddy Ravula · Annanahmed Shaikh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2026-03-01T22:09:05Z</dcterms:created>
  <dcterms:modified xsi:type="dcterms:W3CDTF">2026-03-01T22:09:05Z</dcterms:modified>
</cp:coreProperties>
</file>