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4" r:id="rId3"/>
    <p:sldId id="258" r:id="rId4"/>
    <p:sldId id="259" r:id="rId5"/>
    <p:sldId id="268" r:id="rId6"/>
    <p:sldId id="271" r:id="rId7"/>
    <p:sldId id="269" r:id="rId8"/>
    <p:sldId id="270" r:id="rId9"/>
    <p:sldId id="260" r:id="rId10"/>
    <p:sldId id="261" r:id="rId11"/>
    <p:sldId id="262" r:id="rId12"/>
    <p:sldId id="266" r:id="rId13"/>
    <p:sldId id="272" r:id="rId14"/>
    <p:sldId id="267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B80F58-85ED-0F78-3B7D-A134BAAB16D0}" v="1850" dt="2026-03-30T21:36:27.096"/>
    <p1510:client id="{CDF1CC20-6C0E-4467-BA1A-67CFCA2BD263}" v="319" dt="2026-03-30T03:24:09.6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7967F3-91A9-4812-B89F-D15BFE49A96B}" type="datetimeFigureOut"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78243-B71B-415A-98C5-9F53F21F312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17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developed a CAD-based digital prototype to simulate the physical design and test how users would interact with an all-in-one charging system before investing in manufacturing.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78243-B71B-415A-98C5-9F53F21F312B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58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8FD6-0221-7922-7E45-F62686910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661486-5DA9-8AC9-3FDD-3E258009C3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2AD76-4B1B-187A-625B-0D8F4D992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developed a CAD-based digital prototype to simulate the physical design and test how users would interact with an all-in-one charging system before investing in manufacturing.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C4FE1-3697-C2B5-F0D1-299062423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78243-B71B-415A-98C5-9F53F21F312B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121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Our cost assumptions are based on industry BOM benchmarks, PCB manufacturing data, and injection molding cost structures. While these are not supplier quotes, they are consistent with real-world consumer electronics production ranges.</a:t>
            </a:r>
          </a:p>
          <a:p>
            <a:br>
              <a:rPr lang="en-US" dirty="0">
                <a:ea typeface="Calibri"/>
                <a:cs typeface="+mn-lt"/>
              </a:rPr>
            </a:br>
            <a:r>
              <a:rPr lang="en-US" dirty="0"/>
              <a:t>Different reports define the market slightly differently, but across sources, the travel adapter market consistently falls between roughly $1–2.5 billion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78243-B71B-415A-98C5-9F53F21F312B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68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Hypothesis Partially Validated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Problem is clearly real and widespread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Solution is attractive and relevant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Further validation needed on: </a:t>
            </a:r>
          </a:p>
          <a:p>
            <a:pPr marL="285750" lvl="1" indent="-285750">
              <a:buFont typeface="Arial"/>
              <a:buChar char="•"/>
            </a:pPr>
            <a:r>
              <a:rPr lang="en-US"/>
              <a:t>Willingness to pay </a:t>
            </a:r>
          </a:p>
          <a:p>
            <a:pPr marL="285750" lvl="1" indent="-285750">
              <a:buFont typeface="Arial"/>
              <a:buChar char="•"/>
            </a:pPr>
            <a:r>
              <a:rPr lang="en-US"/>
              <a:t>Optimal design and size 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78243-B71B-415A-98C5-9F53F21F312B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10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1B23-A4D8-37BA-4BE3-86B5D1A8A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2F47AE-DCAE-DB44-1B8D-75C5FED70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4E96F-F57C-E2F9-82C3-9BAB1EBE3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3191-590C-435F-A53E-BA22FA53DD5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1A468-6B17-5A1E-3258-53D5CDBBB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664D0-54D2-391B-A490-A98F9CA63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84642-23CC-4050-B5B0-8D3494FB2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133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90BFC-89B4-98BD-DB75-974E394FC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716E4-8AD8-B30D-DB8A-1937CFE8F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4BFEC-8FB3-F22B-D58B-76AEE7D0D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3191-590C-435F-A53E-BA22FA53DD5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FCD2C-9CE4-89AA-1596-BE30A31B6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D7B79-2778-FE38-560B-407A26009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84642-23CC-4050-B5B0-8D3494FB2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53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87FAD-BC46-2B4A-FB6F-0061A3216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36191-D853-715B-5F3C-A98DE9229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CA8A7-324E-827A-2E6A-41FE6FAF3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3191-590C-435F-A53E-BA22FA53DD5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CA299-25C9-C515-9322-2077F41C3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11529-F71F-3A61-6F21-E492FD0C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84642-23CC-4050-B5B0-8D3494FB2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02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174FC-FED7-3338-8663-6F284F006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DD262-DEA2-B0FE-A3EF-EE3F70B85A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EE8DD-795D-8B2D-A48A-FFBE57537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00E3B-C53F-DEB0-DECB-D653F4A14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3191-590C-435F-A53E-BA22FA53DD5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3528B-13AB-5B89-6B22-AD3BD8FC4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84B1C6-D207-49E9-7ED0-BD08CDDD4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84642-23CC-4050-B5B0-8D3494FB2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139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7C5A0-ED4C-4BAE-B399-4AC0F676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84C72-7560-49B2-B17F-FF043A322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8078B8-B3C6-9BAF-0EAD-EF578DB20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E5BD0E-DE98-5676-AD1A-0BFA386C7E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CDE1E1-CA03-87D4-56CB-B3296C1BC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CCA853-37F0-DA9E-0B8A-05EFA2996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3191-590C-435F-A53E-BA22FA53DD5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9D381-AA5E-E3CF-4EBC-468F46530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C1AD67-21EA-6619-02E5-60903834D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84642-23CC-4050-B5B0-8D3494FB2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69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3BA3-DCC5-7851-2A2E-EC2B3178D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06D5FA-5A7B-8111-A12A-A53646C43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3191-590C-435F-A53E-BA22FA53DD5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792558-25EF-F0EA-F63C-00468AD2E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D618F5-728C-EBFD-C830-D565D7461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84642-23CC-4050-B5B0-8D3494FB2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58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4C962D-7C53-7C0D-0C87-0BF3C7163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3191-590C-435F-A53E-BA22FA53DD5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D0D124-CD31-A79C-BCDC-8CA53B574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4E59D-DE24-A5B4-C5A7-C80CDBA53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84642-23CC-4050-B5B0-8D3494FB2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74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93C6B-7D9F-B06C-48BE-DB04F743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C03CF-DCCD-C0E7-6C78-7850D2459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9507C-F934-997B-F17E-F4FAFB1AE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5FE2D1-8E00-4D90-326A-FD34F78C1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3191-590C-435F-A53E-BA22FA53DD5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A86AE-2739-0ACD-9AE6-F5FB47D0C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7A252-8A3C-4E21-E14C-6DB2D5A15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84642-23CC-4050-B5B0-8D3494FB2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961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F23A-D278-2502-4143-FAA33CA6E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3DC4B4-B21E-B9B4-382F-9DC3C55A95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58C16-D5E6-FE89-934E-40B3F4BA3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3B16B-BD00-6431-5A36-955563683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3191-590C-435F-A53E-BA22FA53DD5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CFB21-16AA-02BA-28FC-DEA0A5E01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F29B3-B908-8D9D-AAB8-3640AC38F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84642-23CC-4050-B5B0-8D3494FB2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28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98DA7-7F4A-B699-E81D-503E1F833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3B016-5619-24AB-0BD9-38DCF3B93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31C01-69B0-FEA1-8975-9868DE711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3191-590C-435F-A53E-BA22FA53DD5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C45C7-CDFA-22AB-1B0E-A61081A12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1E0A-B28D-7262-2C04-47D4B58B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84642-23CC-4050-B5B0-8D3494FB2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8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8EE8EC-D573-FE57-A95F-369AB267C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AFEED-12E6-D428-8FE1-271A1BA65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7E6F6-1037-3DB9-4ADB-E222F0876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3191-590C-435F-A53E-BA22FA53DD5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A8AC0-7186-7EEC-33B1-029431EA2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05197-B6D1-2CCF-9E98-6A06A1274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84642-23CC-4050-B5B0-8D3494FB2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99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68B83B-6F90-ADBA-365B-5B3C4C8A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307D7-0816-DA93-79AD-AB28E6265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3BBC5-D48D-E9C5-5F3A-112DA829F4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553191-590C-435F-A53E-BA22FA53DD5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D0DD8-BE8B-940E-A42F-64856E4FD4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BADA9-F6AF-247C-9EDB-6F0C998A3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C84642-23CC-4050-B5B0-8D3494FB2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5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3erp.com/blog/injection-molding-cost/" TargetMode="External"/><Relationship Id="rId7" Type="http://schemas.openxmlformats.org/officeDocument/2006/relationships/image" Target="../media/image1.png"/><Relationship Id="rId2" Type="http://schemas.openxmlformats.org/officeDocument/2006/relationships/hyperlink" Target="https://www.agsdevices.com/bom-cos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rketintelo.com/report/travel-adapter-market?utm_source=chatgpt.com" TargetMode="External"/><Relationship Id="rId5" Type="http://schemas.openxmlformats.org/officeDocument/2006/relationships/hyperlink" Target="https://www.theinsightpartners.com/reports/travel-adapter-market" TargetMode="External"/><Relationship Id="rId4" Type="http://schemas.openxmlformats.org/officeDocument/2006/relationships/hyperlink" Target="https://www.pcbcart.com/article/content/how-much-does-pcb-assembly-cos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76FF3-10E6-D025-B523-B5BC046CD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6834" y="138006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MVP Presentation</a:t>
            </a:r>
            <a:endParaRPr lang="en-US" sz="4000" b="1" kern="12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B3B35B-EEDC-FC74-EDE2-7653D4DB1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6295" y="2928092"/>
            <a:ext cx="4862447" cy="318055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000" b="1"/>
              <a:t>Group</a:t>
            </a:r>
          </a:p>
          <a:p>
            <a:pPr algn="l"/>
            <a:r>
              <a:rPr lang="en-US" sz="2000"/>
              <a:t>Everyday Friction</a:t>
            </a:r>
            <a:endParaRPr lang="en-US"/>
          </a:p>
          <a:p>
            <a:pPr algn="l"/>
            <a:r>
              <a:rPr lang="en-US" sz="2000" b="1"/>
              <a:t>Members</a:t>
            </a:r>
          </a:p>
          <a:p>
            <a:pPr algn="l"/>
            <a:r>
              <a:rPr lang="en-US" sz="2000" dirty="0"/>
              <a:t>Sarah </a:t>
            </a:r>
            <a:r>
              <a:rPr lang="en-US" sz="2000" dirty="0" err="1"/>
              <a:t>Stantial</a:t>
            </a:r>
            <a:r>
              <a:rPr lang="en-US" sz="2000" dirty="0"/>
              <a:t>, Shannon Cullen, Ryan Jankowski, Rohan Pratap Reddy Ravula, </a:t>
            </a:r>
            <a:r>
              <a:rPr lang="en-US" sz="2000" dirty="0" err="1"/>
              <a:t>Annanahmed</a:t>
            </a:r>
            <a:r>
              <a:rPr lang="en-US" sz="2000" dirty="0"/>
              <a:t> Shaikh</a:t>
            </a:r>
            <a:endParaRPr lang="en-US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4" name="Picture 3" descr="A logo for a company&#10;&#10;AI-generated content may be incorrect.">
            <a:extLst>
              <a:ext uri="{FF2B5EF4-FFF2-40B4-BE49-F238E27FC236}">
                <a16:creationId xmlns:a16="http://schemas.microsoft.com/office/drawing/2014/main" id="{00DE9078-55B2-D7D7-57C9-38F17B829E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5" r="2083" b="2381"/>
          <a:stretch>
            <a:fillRect/>
          </a:stretch>
        </p:blipFill>
        <p:spPr>
          <a:xfrm>
            <a:off x="8636869" y="480550"/>
            <a:ext cx="3114596" cy="245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125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5F927E-648A-CB92-18F3-0162A743E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  <a:latin typeface="Arial"/>
                <a:cs typeface="Arial"/>
              </a:rPr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56392-CFC0-DE8A-BF66-F50827BF1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latin typeface="Arial"/>
                <a:ea typeface="+mn-lt"/>
                <a:cs typeface="Arial"/>
              </a:rPr>
              <a:t>Target User </a:t>
            </a:r>
            <a:endParaRPr lang="en-US" b="1"/>
          </a:p>
          <a:p>
            <a:r>
              <a:rPr lang="en-US" sz="2000">
                <a:latin typeface="Arial"/>
                <a:ea typeface="+mn-lt"/>
                <a:cs typeface="Arial"/>
              </a:rPr>
              <a:t>Young entrepreneurs, business professionals, students, and frequent travelers </a:t>
            </a:r>
            <a:endParaRPr lang="en-US"/>
          </a:p>
          <a:p>
            <a:pPr marL="0" indent="0">
              <a:buNone/>
            </a:pPr>
            <a:endParaRPr lang="en-US" sz="2000" dirty="0">
              <a:latin typeface="Arial"/>
              <a:ea typeface="+mn-lt"/>
              <a:cs typeface="Arial"/>
            </a:endParaRPr>
          </a:p>
          <a:p>
            <a:pPr marL="0" indent="0">
              <a:buNone/>
            </a:pPr>
            <a:r>
              <a:rPr lang="en-US" sz="2000" b="1">
                <a:latin typeface="Arial"/>
                <a:ea typeface="+mn-lt"/>
                <a:cs typeface="Arial"/>
              </a:rPr>
              <a:t>Problem</a:t>
            </a:r>
          </a:p>
          <a:p>
            <a:r>
              <a:rPr lang="en-US" sz="2000" dirty="0">
                <a:latin typeface="Arial"/>
                <a:ea typeface="+mn-lt"/>
                <a:cs typeface="Arial"/>
              </a:rPr>
              <a:t>Experience recurring friction w</a:t>
            </a:r>
            <a:r>
              <a:rPr lang="en-US" sz="2000" dirty="0">
                <a:latin typeface="Aptos"/>
                <a:ea typeface="+mn-lt"/>
                <a:cs typeface="Arial"/>
              </a:rPr>
              <a:t>ith</a:t>
            </a:r>
            <a:r>
              <a:rPr lang="en-US" sz="2000" dirty="0">
                <a:ea typeface="+mn-lt"/>
                <a:cs typeface="+mn-lt"/>
              </a:rPr>
              <a:t> managing cables, adapters, and </a:t>
            </a:r>
            <a:r>
              <a:rPr lang="en-US" sz="2000">
                <a:ea typeface="+mn-lt"/>
                <a:cs typeface="+mn-lt"/>
              </a:rPr>
              <a:t>battery</a:t>
            </a:r>
            <a:r>
              <a:rPr lang="en-US" sz="2000" dirty="0">
                <a:ea typeface="+mn-lt"/>
                <a:cs typeface="+mn-lt"/>
              </a:rPr>
              <a:t> life while on</a:t>
            </a:r>
            <a:r>
              <a:rPr lang="en-US" sz="2000" dirty="0">
                <a:latin typeface="Arial"/>
                <a:ea typeface="+mn-lt"/>
                <a:cs typeface="Arial"/>
              </a:rPr>
              <a:t> the go.</a:t>
            </a:r>
          </a:p>
          <a:p>
            <a:pPr marL="0" indent="0">
              <a:buNone/>
            </a:pPr>
            <a:endParaRPr lang="en-US" sz="2000" dirty="0">
              <a:latin typeface="Arial"/>
              <a:ea typeface="+mn-lt"/>
              <a:cs typeface="Arial"/>
            </a:endParaRPr>
          </a:p>
          <a:p>
            <a:pPr marL="0" indent="0">
              <a:buNone/>
            </a:pPr>
            <a:r>
              <a:rPr lang="en-US" sz="2000" b="1">
                <a:latin typeface="Arial"/>
                <a:ea typeface="+mn-lt"/>
                <a:cs typeface="Arial"/>
              </a:rPr>
              <a:t>Solution</a:t>
            </a:r>
          </a:p>
          <a:p>
            <a:r>
              <a:rPr lang="en-US" sz="2000">
                <a:latin typeface="Arial"/>
                <a:ea typeface="+mn-lt"/>
                <a:cs typeface="Arial"/>
              </a:rPr>
              <a:t>This frustration is significant enough that they would pay for an all-in-one </a:t>
            </a:r>
            <a:r>
              <a:rPr lang="en-US" sz="2000" dirty="0">
                <a:latin typeface="Arial"/>
                <a:ea typeface="+mn-lt"/>
                <a:cs typeface="Arial"/>
              </a:rPr>
              <a:t>universal adapter and charging solution.</a:t>
            </a:r>
            <a:endParaRPr lang="en-US" sz="2000">
              <a:latin typeface="Arial"/>
              <a:cs typeface="Arial"/>
            </a:endParaRPr>
          </a:p>
        </p:txBody>
      </p:sp>
      <p:pic>
        <p:nvPicPr>
          <p:cNvPr id="7" name="Picture 6" descr="A logo for a company&#10;&#10;AI-generated content may be incorrect.">
            <a:extLst>
              <a:ext uri="{FF2B5EF4-FFF2-40B4-BE49-F238E27FC236}">
                <a16:creationId xmlns:a16="http://schemas.microsoft.com/office/drawing/2014/main" id="{FF47D098-C8DB-E5F0-8207-C2942112F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5" r="2083" b="2381"/>
          <a:stretch>
            <a:fillRect/>
          </a:stretch>
        </p:blipFill>
        <p:spPr>
          <a:xfrm>
            <a:off x="10887698" y="222642"/>
            <a:ext cx="1086505" cy="81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713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9D1F71-E9F0-C1A0-E463-75D16704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753" y="639046"/>
            <a:ext cx="4459743" cy="3335306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  <a:latin typeface="Arial"/>
                <a:cs typeface="Arial"/>
              </a:rPr>
              <a:t>Product Concept </a:t>
            </a:r>
            <a:r>
              <a:rPr lang="en-US" sz="4000" b="1" dirty="0">
                <a:solidFill>
                  <a:srgbClr val="FFFFFF"/>
                </a:solidFill>
                <a:latin typeface="Arial"/>
                <a:cs typeface="Arial"/>
              </a:rPr>
              <a:t>(adapter + power bank combo)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A2483-A608-FB21-548E-26DA802BD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4543" y="1048065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latin typeface="Arial"/>
                <a:cs typeface="Arial"/>
              </a:rPr>
              <a:t>Concept Overview</a:t>
            </a:r>
            <a:endParaRPr lang="en-US" sz="2000" dirty="0">
              <a:latin typeface="Arial"/>
              <a:cs typeface="Arial"/>
            </a:endParaRPr>
          </a:p>
          <a:p>
            <a:r>
              <a:rPr lang="en-US" sz="2000" dirty="0">
                <a:latin typeface="Arial"/>
                <a:ea typeface="+mn-lt"/>
                <a:cs typeface="Arial"/>
              </a:rPr>
              <a:t>An all-in-one adapter + power bank system designed to eliminate the friction of managing cables, plug types, and battery life while on the go.</a:t>
            </a:r>
            <a:endParaRPr lang="en-US" sz="2000" dirty="0">
              <a:latin typeface="Arial"/>
              <a:cs typeface="Arial"/>
            </a:endParaRPr>
          </a:p>
          <a:p>
            <a:endParaRPr lang="en-US" sz="20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000" b="1">
                <a:latin typeface="Arial"/>
                <a:cs typeface="Arial"/>
              </a:rPr>
              <a:t>Core Idea</a:t>
            </a:r>
            <a:endParaRPr lang="en-US" sz="2000" dirty="0">
              <a:latin typeface="Arial"/>
              <a:cs typeface="Arial"/>
            </a:endParaRPr>
          </a:p>
          <a:p>
            <a:r>
              <a:rPr lang="en-US" sz="2000">
                <a:latin typeface="Arial"/>
                <a:ea typeface="+mn-lt"/>
                <a:cs typeface="Arial"/>
              </a:rPr>
              <a:t>“One device. Every plug. Always powered.” </a:t>
            </a:r>
            <a:endParaRPr lang="en-US" sz="2000" dirty="0">
              <a:latin typeface="Arial"/>
              <a:cs typeface="Arial"/>
            </a:endParaRPr>
          </a:p>
          <a:p>
            <a:r>
              <a:rPr lang="en-US" sz="2000">
                <a:latin typeface="Arial"/>
                <a:ea typeface="+mn-lt"/>
                <a:cs typeface="Arial"/>
              </a:rPr>
              <a:t>A compact, modular charging solution that integrates:</a:t>
            </a:r>
            <a:endParaRPr lang="en-US" sz="2000" dirty="0">
              <a:latin typeface="Arial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Arial"/>
                <a:ea typeface="+mn-lt"/>
                <a:cs typeface="Arial"/>
              </a:rPr>
              <a:t>Cable conversion </a:t>
            </a:r>
            <a:endParaRPr lang="en-US" sz="2000" dirty="0">
              <a:latin typeface="Arial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Arial"/>
                <a:ea typeface="+mn-lt"/>
                <a:cs typeface="Arial"/>
              </a:rPr>
              <a:t>Power conversion </a:t>
            </a:r>
            <a:endParaRPr lang="en-US" sz="2000" dirty="0">
              <a:latin typeface="Arial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Arial"/>
                <a:ea typeface="+mn-lt"/>
                <a:cs typeface="Arial"/>
              </a:rPr>
              <a:t>Portable battery supply </a:t>
            </a:r>
            <a:endParaRPr lang="en-US" sz="2000">
              <a:latin typeface="Arial"/>
              <a:cs typeface="Arial"/>
            </a:endParaRPr>
          </a:p>
          <a:p>
            <a:endParaRPr lang="en-US" sz="2000"/>
          </a:p>
        </p:txBody>
      </p:sp>
      <p:pic>
        <p:nvPicPr>
          <p:cNvPr id="5" name="Picture 4" descr="A logo for a company&#10;&#10;AI-generated content may be incorrect.">
            <a:extLst>
              <a:ext uri="{FF2B5EF4-FFF2-40B4-BE49-F238E27FC236}">
                <a16:creationId xmlns:a16="http://schemas.microsoft.com/office/drawing/2014/main" id="{2A8ADC60-F37A-5464-F1BD-9CDB91E248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5" r="2083" b="2381"/>
          <a:stretch>
            <a:fillRect/>
          </a:stretch>
        </p:blipFill>
        <p:spPr>
          <a:xfrm>
            <a:off x="10887698" y="222642"/>
            <a:ext cx="1086505" cy="81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709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AC5E8C-9CB6-5726-6868-02FDC70D0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>
                <a:solidFill>
                  <a:srgbClr val="FFFFFF"/>
                </a:solidFill>
                <a:latin typeface="Arial"/>
                <a:cs typeface="Arial"/>
              </a:rPr>
              <a:t>Basic </a:t>
            </a:r>
            <a:r>
              <a:rPr lang="en-US" sz="4000" b="1">
                <a:solidFill>
                  <a:srgbClr val="FFFFFF"/>
                </a:solidFill>
                <a:latin typeface="Arial"/>
                <a:cs typeface="Arial"/>
              </a:rPr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2117B-13AD-581E-79F3-DDAA90200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596" y="732988"/>
            <a:ext cx="4862447" cy="57652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highlight>
                  <a:srgbClr val="FFFFFF"/>
                </a:highlight>
                <a:latin typeface="Arial"/>
                <a:ea typeface="+mn-lt"/>
                <a:cs typeface="Arial"/>
              </a:rPr>
              <a:t>Universal Compatibility </a:t>
            </a:r>
            <a:endParaRPr lang="en-US" sz="2000" b="1">
              <a:latin typeface="Arial"/>
              <a:ea typeface="+mn-lt"/>
              <a:cs typeface="Arial"/>
            </a:endParaRPr>
          </a:p>
          <a:p>
            <a:pPr>
              <a:buFont typeface="Arial"/>
            </a:pPr>
            <a:r>
              <a:rPr lang="en-US" sz="2000">
                <a:highlight>
                  <a:srgbClr val="FFFFFF"/>
                </a:highlight>
                <a:latin typeface="Arial"/>
                <a:ea typeface="+mn-lt"/>
                <a:cs typeface="Arial"/>
              </a:rPr>
              <a:t>Supports global plug types (US, EU, UK, etc.) </a:t>
            </a:r>
            <a:endParaRPr lang="en-US" sz="20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000" b="1">
                <a:highlight>
                  <a:srgbClr val="FFFFFF"/>
                </a:highlight>
                <a:latin typeface="Arial"/>
                <a:ea typeface="+mn-lt"/>
                <a:cs typeface="Arial"/>
              </a:rPr>
              <a:t>Multi-Device Charging</a:t>
            </a:r>
          </a:p>
          <a:p>
            <a:r>
              <a:rPr lang="en-US" sz="2000">
                <a:highlight>
                  <a:srgbClr val="FFFFFF"/>
                </a:highlight>
                <a:latin typeface="Arial"/>
                <a:ea typeface="+mn-lt"/>
                <a:cs typeface="Arial"/>
              </a:rPr>
              <a:t>Up to 8 ports for simultaneous use </a:t>
            </a:r>
            <a:endParaRPr lang="en-US" sz="20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2000">
                <a:highlight>
                  <a:srgbClr val="FFFFFF"/>
                </a:highlight>
                <a:latin typeface="Arial"/>
                <a:ea typeface="+mn-lt"/>
                <a:cs typeface="Arial"/>
              </a:rPr>
              <a:t>5 interchangeable female ports stored within the device</a:t>
            </a:r>
          </a:p>
          <a:p>
            <a:pPr marL="0" indent="0">
              <a:buNone/>
            </a:pPr>
            <a:r>
              <a:rPr lang="en-US" sz="2000" b="1">
                <a:highlight>
                  <a:srgbClr val="FFFFFF"/>
                </a:highlight>
                <a:latin typeface="Arial"/>
                <a:ea typeface="+mn-lt"/>
                <a:cs typeface="Arial"/>
              </a:rPr>
              <a:t>Interchangeable Cable Ends</a:t>
            </a:r>
            <a:endParaRPr lang="en-US" sz="2000" b="1">
              <a:latin typeface="Arial"/>
              <a:ea typeface="+mn-lt"/>
              <a:cs typeface="Arial"/>
            </a:endParaRPr>
          </a:p>
          <a:p>
            <a:r>
              <a:rPr lang="en-US" sz="2000">
                <a:highlight>
                  <a:srgbClr val="FFFFFF"/>
                </a:highlight>
                <a:latin typeface="Arial"/>
                <a:ea typeface="+mn-lt"/>
                <a:cs typeface="Arial"/>
              </a:rPr>
              <a:t>USB-C base with attachable ends (USB-A, Lightning, etc.) </a:t>
            </a:r>
            <a:endParaRPr lang="en-US" sz="20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000" b="1">
                <a:highlight>
                  <a:srgbClr val="FFFFFF"/>
                </a:highlight>
                <a:latin typeface="Arial"/>
                <a:ea typeface="+mn-lt"/>
                <a:cs typeface="Arial"/>
              </a:rPr>
              <a:t>Built-In Power Bank</a:t>
            </a:r>
            <a:endParaRPr lang="en-US" sz="2000" b="1">
              <a:latin typeface="Arial"/>
              <a:ea typeface="+mn-lt"/>
              <a:cs typeface="Arial"/>
            </a:endParaRPr>
          </a:p>
          <a:p>
            <a:r>
              <a:rPr lang="en-US" sz="2000">
                <a:highlight>
                  <a:srgbClr val="FFFFFF"/>
                </a:highlight>
                <a:latin typeface="Arial"/>
                <a:ea typeface="+mn-lt"/>
                <a:cs typeface="Arial"/>
              </a:rPr>
              <a:t>Detachable battery for charging without outlets </a:t>
            </a:r>
            <a:endParaRPr lang="en-US" sz="200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000" b="1">
                <a:highlight>
                  <a:srgbClr val="FFFFFF"/>
                </a:highlight>
                <a:latin typeface="Arial"/>
                <a:ea typeface="+mn-lt"/>
                <a:cs typeface="Arial"/>
              </a:rPr>
              <a:t>Retractable &amp; Organized Design</a:t>
            </a:r>
            <a:endParaRPr lang="en-US" sz="2000" b="1">
              <a:latin typeface="Arial"/>
              <a:ea typeface="+mn-lt"/>
              <a:cs typeface="Arial"/>
            </a:endParaRPr>
          </a:p>
          <a:p>
            <a:r>
              <a:rPr lang="en-US" sz="2000">
                <a:highlight>
                  <a:srgbClr val="FFFFFF"/>
                </a:highlight>
                <a:latin typeface="Arial"/>
                <a:ea typeface="+mn-lt"/>
                <a:cs typeface="Arial"/>
              </a:rPr>
              <a:t>Cables and plugs stored within the device (no loose parts) </a:t>
            </a:r>
            <a:endParaRPr lang="en-US" sz="2000">
              <a:latin typeface="Arial"/>
              <a:cs typeface="Arial"/>
            </a:endParaRPr>
          </a:p>
          <a:p>
            <a:endParaRPr lang="en-US" sz="200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  <p:pic>
        <p:nvPicPr>
          <p:cNvPr id="5" name="Picture 4" descr="A logo for a company&#10;&#10;AI-generated content may be incorrect.">
            <a:extLst>
              <a:ext uri="{FF2B5EF4-FFF2-40B4-BE49-F238E27FC236}">
                <a16:creationId xmlns:a16="http://schemas.microsoft.com/office/drawing/2014/main" id="{9A5E0398-F3A6-2CEA-9C7E-8ECA699DAB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5" r="2083" b="2381"/>
          <a:stretch>
            <a:fillRect/>
          </a:stretch>
        </p:blipFill>
        <p:spPr>
          <a:xfrm>
            <a:off x="10887698" y="222642"/>
            <a:ext cx="1086505" cy="81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55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2C6A31-70BF-0807-0261-793B73782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  <a:latin typeface="Arial"/>
                <a:cs typeface="Arial"/>
              </a:rPr>
              <a:t>MVP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04CD8-494A-7B51-4A43-708034DC6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MVP Type</a:t>
            </a:r>
          </a:p>
          <a:p>
            <a:r>
              <a:rPr lang="en-US" sz="2000" dirty="0">
                <a:latin typeface="Arial"/>
                <a:ea typeface="+mn-lt"/>
                <a:cs typeface="Arial"/>
              </a:rPr>
              <a:t>A low-</a:t>
            </a:r>
            <a:r>
              <a:rPr lang="en-US" sz="2000">
                <a:latin typeface="Arial"/>
                <a:ea typeface="+mn-lt"/>
                <a:cs typeface="Arial"/>
              </a:rPr>
              <a:t>fidelity digital</a:t>
            </a:r>
            <a:r>
              <a:rPr lang="en-US" sz="2000" dirty="0">
                <a:latin typeface="Arial"/>
                <a:ea typeface="+mn-lt"/>
                <a:cs typeface="Arial"/>
              </a:rPr>
              <a:t> prototype (CAD model) was chosen </a:t>
            </a:r>
          </a:p>
          <a:p>
            <a:pPr marL="0" indent="0">
              <a:buNone/>
            </a:pPr>
            <a:r>
              <a:rPr lang="en-US" sz="2000" b="1">
                <a:latin typeface="Arial"/>
                <a:ea typeface="+mn-lt"/>
                <a:cs typeface="Arial"/>
              </a:rPr>
              <a:t>Purpose</a:t>
            </a:r>
            <a:endParaRPr lang="en-US" sz="2000" b="1" dirty="0">
              <a:latin typeface="Arial"/>
              <a:ea typeface="+mn-lt"/>
              <a:cs typeface="Arial"/>
            </a:endParaRPr>
          </a:p>
          <a:p>
            <a:r>
              <a:rPr lang="en-US" sz="2000" dirty="0">
                <a:latin typeface="Arial"/>
                <a:ea typeface="+mn-lt"/>
                <a:cs typeface="Arial"/>
              </a:rPr>
              <a:t>Visualize form, functionality, and component integration for user testing and feedback</a:t>
            </a:r>
            <a:endParaRPr lang="en-US" sz="2000">
              <a:latin typeface="Arial"/>
              <a:cs typeface="Arial"/>
            </a:endParaRPr>
          </a:p>
        </p:txBody>
      </p:sp>
      <p:pic>
        <p:nvPicPr>
          <p:cNvPr id="5" name="Picture 4" descr="A logo for a company&#10;&#10;AI-generated content may be incorrect.">
            <a:extLst>
              <a:ext uri="{FF2B5EF4-FFF2-40B4-BE49-F238E27FC236}">
                <a16:creationId xmlns:a16="http://schemas.microsoft.com/office/drawing/2014/main" id="{EA0DCBF4-CA19-B72B-D8E4-D35547F2C7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5" r="2083" b="2381"/>
          <a:stretch>
            <a:fillRect/>
          </a:stretch>
        </p:blipFill>
        <p:spPr>
          <a:xfrm>
            <a:off x="10887698" y="222642"/>
            <a:ext cx="1086505" cy="81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48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8C5F6-E7E4-C3AC-5496-B849C448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39B0E0-C244-7FA7-0B19-CA0782411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ES" sz="4000" b="1" dirty="0">
                <a:solidFill>
                  <a:srgbClr val="FFFFFF"/>
                </a:solidFill>
                <a:latin typeface="Arial"/>
                <a:cs typeface="Arial"/>
              </a:rPr>
              <a:t>CAD </a:t>
            </a:r>
            <a:r>
              <a:rPr lang="en-US" sz="4000" b="1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lang="es-ES" sz="4000" b="1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lang="en-US" sz="400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7DC48C-7767-4F89-D565-3A2E2502B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93" y="2112317"/>
            <a:ext cx="4065324" cy="2195756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1" name="Picture 10" descr="A drawing of a rectangular object&#10;&#10;AI-generated content may be incorrect.">
            <a:extLst>
              <a:ext uri="{FF2B5EF4-FFF2-40B4-BE49-F238E27FC236}">
                <a16:creationId xmlns:a16="http://schemas.microsoft.com/office/drawing/2014/main" id="{A1BF286B-7393-D568-6E65-F884D7073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93" y="4492140"/>
            <a:ext cx="4065324" cy="2100682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5" name="Picture 14" descr="A close-up of a power strip&#10;&#10;AI-generated content may be incorrect.">
            <a:extLst>
              <a:ext uri="{FF2B5EF4-FFF2-40B4-BE49-F238E27FC236}">
                <a16:creationId xmlns:a16="http://schemas.microsoft.com/office/drawing/2014/main" id="{B2CB9E00-70A6-4DA2-CC92-62BC2B9079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9713" y="4533409"/>
            <a:ext cx="3121654" cy="2030053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ED3AE8E-3959-19B4-D8D0-17EFC97D3A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564"/>
          <a:stretch>
            <a:fillRect/>
          </a:stretch>
        </p:blipFill>
        <p:spPr>
          <a:xfrm>
            <a:off x="8358464" y="4317092"/>
            <a:ext cx="3557658" cy="2275730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21" name="Picture 20" descr="A grey electrical plug with two plugs&#10;&#10;AI-generated content may be incorrect.">
            <a:extLst>
              <a:ext uri="{FF2B5EF4-FFF2-40B4-BE49-F238E27FC236}">
                <a16:creationId xmlns:a16="http://schemas.microsoft.com/office/drawing/2014/main" id="{DE30DECB-655B-62BF-08E5-70A45F4950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8464" y="2112317"/>
            <a:ext cx="3590368" cy="1907909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24" name="Picture 23" descr="A drawing of a rectangular object&#10;&#10;AI-generated content may be incorrect.">
            <a:extLst>
              <a:ext uri="{FF2B5EF4-FFF2-40B4-BE49-F238E27FC236}">
                <a16:creationId xmlns:a16="http://schemas.microsoft.com/office/drawing/2014/main" id="{87B00501-5BF6-8886-81BF-5A95960CA9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9713" y="2112317"/>
            <a:ext cx="3121654" cy="2195756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7322F2-4874-E1C4-D9B5-FB1D749FDD57}"/>
              </a:ext>
            </a:extLst>
          </p:cNvPr>
          <p:cNvSpPr txBox="1"/>
          <p:nvPr/>
        </p:nvSpPr>
        <p:spPr>
          <a:xfrm>
            <a:off x="177293" y="1716569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2000" b="1" dirty="0" err="1"/>
              <a:t>Adapter</a:t>
            </a:r>
            <a:r>
              <a:rPr lang="es-ES" sz="2000" b="1" dirty="0"/>
              <a:t> </a:t>
            </a:r>
            <a:r>
              <a:rPr lang="es-ES" sz="2000" b="1" dirty="0" err="1"/>
              <a:t>Part</a:t>
            </a:r>
            <a:endParaRPr 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C37AB-6CB0-0619-FF87-C9C7251D2B24}"/>
              </a:ext>
            </a:extLst>
          </p:cNvPr>
          <p:cNvSpPr txBox="1"/>
          <p:nvPr/>
        </p:nvSpPr>
        <p:spPr>
          <a:xfrm>
            <a:off x="4739713" y="1712207"/>
            <a:ext cx="17088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2000" b="1" dirty="0" err="1"/>
              <a:t>Battery</a:t>
            </a:r>
            <a:r>
              <a:rPr lang="es-ES" sz="2000" b="1" dirty="0"/>
              <a:t> </a:t>
            </a:r>
            <a:r>
              <a:rPr lang="es-ES" sz="2000" b="1" dirty="0" err="1"/>
              <a:t>Part</a:t>
            </a:r>
            <a:endParaRPr 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72B018-D62F-AA85-5139-8B6AA59B00A7}"/>
              </a:ext>
            </a:extLst>
          </p:cNvPr>
          <p:cNvSpPr txBox="1"/>
          <p:nvPr/>
        </p:nvSpPr>
        <p:spPr>
          <a:xfrm>
            <a:off x="8358464" y="1716014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2000" b="1" dirty="0"/>
              <a:t>Full Assembly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53771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70DF7B-3886-F2C2-226E-0F1720C8C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  <a:latin typeface="Arial"/>
                <a:cs typeface="Arial"/>
              </a:rPr>
              <a:t>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3D71-AFB9-3B10-F0D6-794B38B9A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latin typeface="Arial"/>
                <a:cs typeface="Arial"/>
              </a:rPr>
              <a:t>Length </a:t>
            </a:r>
            <a:r>
              <a:rPr lang="en-US" sz="2000">
                <a:latin typeface="Arial"/>
                <a:cs typeface="Arial"/>
              </a:rPr>
              <a:t>– 150 mm (~5.9 in)</a:t>
            </a:r>
          </a:p>
          <a:p>
            <a:r>
              <a:rPr lang="en-US" sz="2000" b="1">
                <a:latin typeface="Arial"/>
                <a:cs typeface="Arial"/>
              </a:rPr>
              <a:t>Height </a:t>
            </a:r>
            <a:r>
              <a:rPr lang="en-US" sz="2000">
                <a:latin typeface="Arial"/>
                <a:cs typeface="Arial"/>
              </a:rPr>
              <a:t>– 50 mm (~2 in)</a:t>
            </a:r>
          </a:p>
          <a:p>
            <a:r>
              <a:rPr lang="en-US" sz="2000" b="1">
                <a:latin typeface="Arial"/>
                <a:cs typeface="Arial"/>
              </a:rPr>
              <a:t>Adaptor width</a:t>
            </a:r>
            <a:r>
              <a:rPr lang="en-US" sz="2000">
                <a:latin typeface="Arial"/>
                <a:cs typeface="Arial"/>
              </a:rPr>
              <a:t> – 30 mm (~1.2 in)</a:t>
            </a:r>
          </a:p>
          <a:p>
            <a:r>
              <a:rPr lang="en-US" sz="2000" b="1">
                <a:latin typeface="Arial"/>
                <a:cs typeface="Arial"/>
              </a:rPr>
              <a:t>Battery width</a:t>
            </a:r>
            <a:r>
              <a:rPr lang="en-US" sz="2000">
                <a:latin typeface="Arial"/>
                <a:cs typeface="Arial"/>
              </a:rPr>
              <a:t> not including plugs – 30 mm</a:t>
            </a:r>
          </a:p>
          <a:p>
            <a:r>
              <a:rPr lang="en-US" sz="2000" b="1">
                <a:latin typeface="Arial"/>
                <a:cs typeface="Arial"/>
              </a:rPr>
              <a:t>Battery width</a:t>
            </a:r>
            <a:r>
              <a:rPr lang="en-US" sz="2000">
                <a:latin typeface="Arial"/>
                <a:cs typeface="Arial"/>
              </a:rPr>
              <a:t> including plugs – 77 mm (~3 in)</a:t>
            </a:r>
          </a:p>
        </p:txBody>
      </p:sp>
      <p:pic>
        <p:nvPicPr>
          <p:cNvPr id="5" name="Picture 4" descr="A logo for a company&#10;&#10;AI-generated content may be incorrect.">
            <a:extLst>
              <a:ext uri="{FF2B5EF4-FFF2-40B4-BE49-F238E27FC236}">
                <a16:creationId xmlns:a16="http://schemas.microsoft.com/office/drawing/2014/main" id="{7628DF96-ABD4-AF41-C4B5-017FAAE8DB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5" r="2083" b="2381"/>
          <a:stretch>
            <a:fillRect/>
          </a:stretch>
        </p:blipFill>
        <p:spPr>
          <a:xfrm>
            <a:off x="10887698" y="222642"/>
            <a:ext cx="1086505" cy="81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70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A23119-F254-FF85-CC86-9B49BFB6A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  <a:latin typeface="Arial"/>
                <a:cs typeface="Arial"/>
              </a:rPr>
              <a:t>Real-world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A9409-DD84-0520-4B75-0BECB8F59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7269" y="466035"/>
            <a:ext cx="4862447" cy="6138714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cs typeface="Arial"/>
              </a:rPr>
              <a:t>Eliminating Everyday Friction</a:t>
            </a:r>
            <a:endParaRPr lang="en-US" b="1"/>
          </a:p>
          <a:p>
            <a:pPr>
              <a:buFont typeface="Arial"/>
            </a:pPr>
            <a:r>
              <a:rPr lang="en-US" sz="2000">
                <a:ea typeface="+mn-lt"/>
                <a:cs typeface="+mn-lt"/>
              </a:rPr>
              <a:t>Removes the need to carry multiple chargers, adapters, and cables </a:t>
            </a:r>
            <a:endParaRPr lang="en-US" sz="2000" dirty="0"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endParaRPr lang="en-US" sz="2000" dirty="0">
              <a:latin typeface="Aptos"/>
              <a:cs typeface="Arial"/>
            </a:endParaRPr>
          </a:p>
          <a:p>
            <a:pPr marL="0" indent="0">
              <a:buNone/>
            </a:pPr>
            <a:r>
              <a:rPr lang="en-US" sz="2000" b="1">
                <a:latin typeface="Arial"/>
                <a:cs typeface="Arial"/>
              </a:rPr>
              <a:t>Time &amp; Convenience</a:t>
            </a:r>
          </a:p>
          <a:p>
            <a:r>
              <a:rPr lang="en-US" sz="2000">
                <a:ea typeface="+mn-lt"/>
                <a:cs typeface="+mn-lt"/>
              </a:rPr>
              <a:t>One device replaces 5+ essential charging items </a:t>
            </a:r>
            <a:endParaRPr lang="en-US" sz="2000" dirty="0">
              <a:latin typeface="Arial"/>
              <a:ea typeface="+mn-lt"/>
              <a:cs typeface="Arial"/>
            </a:endParaRPr>
          </a:p>
          <a:p>
            <a:r>
              <a:rPr lang="en-US" sz="2000">
                <a:ea typeface="+mn-lt"/>
                <a:cs typeface="+mn-lt"/>
              </a:rPr>
              <a:t>Faster setup, no searching, untangling, or switching adapters </a:t>
            </a:r>
            <a:endParaRPr lang="en-US" sz="2000" dirty="0">
              <a:latin typeface="Arial"/>
              <a:ea typeface="+mn-lt"/>
              <a:cs typeface="Arial"/>
            </a:endParaRPr>
          </a:p>
          <a:p>
            <a:pPr marL="0" indent="0">
              <a:buNone/>
            </a:pPr>
            <a:endParaRPr lang="en-US" sz="2000" b="1" dirty="0">
              <a:latin typeface="Arial"/>
              <a:ea typeface="+mn-lt"/>
              <a:cs typeface="Arial"/>
            </a:endParaRPr>
          </a:p>
          <a:p>
            <a:pPr marL="0" indent="0">
              <a:buNone/>
            </a:pPr>
            <a:r>
              <a:rPr lang="en-US" sz="2000" b="1">
                <a:latin typeface="Arial"/>
                <a:ea typeface="+mn-lt"/>
                <a:cs typeface="Arial"/>
              </a:rPr>
              <a:t>Reliability &amp; Preparedness</a:t>
            </a:r>
            <a:endParaRPr lang="en-US" sz="2000" b="1"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Ensures users stay powered in critical moments (travel, meetings, emergencies) </a:t>
            </a:r>
            <a:endParaRPr lang="en-US"/>
          </a:p>
          <a:p>
            <a:pPr marL="0" indent="0">
              <a:buNone/>
            </a:pPr>
            <a:endParaRPr lang="en-US" sz="2000" b="1" dirty="0">
              <a:latin typeface="Arial"/>
              <a:ea typeface="+mn-lt"/>
              <a:cs typeface="Arial"/>
            </a:endParaRPr>
          </a:p>
          <a:p>
            <a:pPr marL="0" indent="0">
              <a:buNone/>
            </a:pPr>
            <a:r>
              <a:rPr lang="en-US" sz="2000" b="1">
                <a:latin typeface="Arial"/>
                <a:ea typeface="+mn-lt"/>
                <a:cs typeface="Arial"/>
              </a:rPr>
              <a:t>Cost Efficiency Over Time</a:t>
            </a:r>
            <a:endParaRPr lang="en-US"/>
          </a:p>
          <a:p>
            <a:r>
              <a:rPr lang="en-US" sz="2000" dirty="0">
                <a:ea typeface="+mn-lt"/>
                <a:cs typeface="+mn-lt"/>
              </a:rPr>
              <a:t>Replaces the need to purchase multiple adapters and chargers </a:t>
            </a:r>
            <a:endParaRPr lang="en-US" sz="2000" dirty="0">
              <a:latin typeface="Arial"/>
              <a:cs typeface="Arial"/>
            </a:endParaRPr>
          </a:p>
          <a:p>
            <a:r>
              <a:rPr lang="en-US" sz="2000">
                <a:ea typeface="+mn-lt"/>
                <a:cs typeface="+mn-lt"/>
              </a:rPr>
              <a:t>Reduces loss/replacement costs from forgotten or misplaced accessories </a:t>
            </a:r>
            <a:endParaRPr lang="en-US"/>
          </a:p>
          <a:p>
            <a:endParaRPr lang="en-US" sz="2000" dirty="0">
              <a:latin typeface="Arial"/>
              <a:cs typeface="Arial"/>
            </a:endParaRPr>
          </a:p>
        </p:txBody>
      </p:sp>
      <p:pic>
        <p:nvPicPr>
          <p:cNvPr id="5" name="Picture 4" descr="A logo for a company&#10;&#10;AI-generated content may be incorrect.">
            <a:extLst>
              <a:ext uri="{FF2B5EF4-FFF2-40B4-BE49-F238E27FC236}">
                <a16:creationId xmlns:a16="http://schemas.microsoft.com/office/drawing/2014/main" id="{1570CD02-BF61-1F78-C506-24960D07DC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5" r="2083" b="2381"/>
          <a:stretch>
            <a:fillRect/>
          </a:stretch>
        </p:blipFill>
        <p:spPr>
          <a:xfrm>
            <a:off x="10887698" y="222642"/>
            <a:ext cx="1086505" cy="81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59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10203A-1647-677E-F690-1DAE4F82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>
                <a:solidFill>
                  <a:srgbClr val="FFFFFF"/>
                </a:solidFill>
                <a:latin typeface="Arial"/>
                <a:cs typeface="Arial"/>
              </a:rPr>
              <a:t>High-level Manufacturing </a:t>
            </a:r>
            <a:r>
              <a:rPr lang="en-US" sz="4000" b="1">
                <a:solidFill>
                  <a:srgbClr val="FFFFFF"/>
                </a:solidFill>
                <a:latin typeface="Arial"/>
                <a:cs typeface="Arial"/>
              </a:rPr>
              <a:t>Flow</a:t>
            </a:r>
            <a:endParaRPr lang="en-US" sz="4000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2524F-F8A9-6132-1FE9-18F3ECDA9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578925"/>
            <a:ext cx="4862447" cy="6068157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1800" b="1"/>
              <a:t>Design Finalization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Refine CAD model into production-ready design </a:t>
            </a:r>
            <a:endParaRPr lang="en-US" sz="18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b="1" dirty="0">
                <a:ea typeface="+mn-lt"/>
                <a:cs typeface="+mn-lt"/>
              </a:rPr>
              <a:t>Component Sourcing</a:t>
            </a:r>
            <a:endParaRPr lang="en-US" sz="1800" b="1" dirty="0"/>
          </a:p>
          <a:p>
            <a:r>
              <a:rPr lang="en-US" sz="1800" dirty="0">
                <a:ea typeface="+mn-lt"/>
                <a:cs typeface="+mn-lt"/>
              </a:rPr>
              <a:t>Identify suppliers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Prototyping &amp; Testing</a:t>
            </a:r>
            <a:endParaRPr lang="en-US" sz="1800" b="1"/>
          </a:p>
          <a:p>
            <a:r>
              <a:rPr lang="en-US" sz="1800">
                <a:ea typeface="+mn-lt"/>
                <a:cs typeface="+mn-lt"/>
              </a:rPr>
              <a:t>Develop physical prototype from CAD design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Manufacturing &amp; Assembly</a:t>
            </a:r>
            <a:endParaRPr lang="en-US" sz="1800" b="1"/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Injection molding for outer casing </a:t>
            </a:r>
            <a:endParaRPr lang="en-US" sz="1800"/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PCB fabrication, electronics, and internal wiring assembly </a:t>
            </a:r>
            <a:endParaRPr lang="en-US" sz="1800"/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Integration of battery, adapters, and cable systems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Quality Control</a:t>
            </a:r>
            <a:endParaRPr lang="en-US" sz="1800" b="1"/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Functional testing of every unit 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Packaging &amp; Distribution</a:t>
            </a:r>
            <a:endParaRPr lang="en-US" sz="1800" b="1"/>
          </a:p>
          <a:p>
            <a:r>
              <a:rPr lang="en-US" sz="1800">
                <a:ea typeface="+mn-lt"/>
                <a:cs typeface="+mn-lt"/>
              </a:rPr>
              <a:t>Retail and e-commerce readiness </a:t>
            </a:r>
            <a:endParaRPr lang="en-US" sz="1800"/>
          </a:p>
          <a:p>
            <a:endParaRPr lang="en-US" sz="2000" dirty="0"/>
          </a:p>
        </p:txBody>
      </p:sp>
      <p:pic>
        <p:nvPicPr>
          <p:cNvPr id="5" name="Picture 4" descr="A logo for a company&#10;&#10;AI-generated content may be incorrect.">
            <a:extLst>
              <a:ext uri="{FF2B5EF4-FFF2-40B4-BE49-F238E27FC236}">
                <a16:creationId xmlns:a16="http://schemas.microsoft.com/office/drawing/2014/main" id="{A412E711-773A-2796-F1C7-670B342C00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5" r="2083" b="2381"/>
          <a:stretch>
            <a:fillRect/>
          </a:stretch>
        </p:blipFill>
        <p:spPr>
          <a:xfrm>
            <a:off x="10887698" y="222642"/>
            <a:ext cx="1086505" cy="81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77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EA0D30-79C8-CC4B-4B66-E20AF082D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>
                <a:solidFill>
                  <a:srgbClr val="FFFFFF"/>
                </a:solidFill>
                <a:latin typeface="Arial"/>
                <a:cs typeface="Arial"/>
              </a:rPr>
              <a:t>Rough Cost </a:t>
            </a:r>
            <a:r>
              <a:rPr lang="en-US" sz="4000" b="1">
                <a:solidFill>
                  <a:srgbClr val="FFFFFF"/>
                </a:solidFill>
                <a:latin typeface="Arial"/>
                <a:cs typeface="Arial"/>
              </a:rPr>
              <a:t>Assumptions</a:t>
            </a:r>
            <a:endParaRPr lang="en-US" sz="4000" b="1" dirty="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F395CA-273D-CEDA-C9EA-5D88C2C2EE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9122037"/>
              </p:ext>
            </p:extLst>
          </p:nvPr>
        </p:nvGraphicFramePr>
        <p:xfrm>
          <a:off x="6299200" y="1079690"/>
          <a:ext cx="5166476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238">
                  <a:extLst>
                    <a:ext uri="{9D8B030D-6E8A-4147-A177-3AD203B41FA5}">
                      <a16:colId xmlns:a16="http://schemas.microsoft.com/office/drawing/2014/main" val="4082714028"/>
                    </a:ext>
                  </a:extLst>
                </a:gridCol>
                <a:gridCol w="2583238">
                  <a:extLst>
                    <a:ext uri="{9D8B030D-6E8A-4147-A177-3AD203B41FA5}">
                      <a16:colId xmlns:a16="http://schemas.microsoft.com/office/drawing/2014/main" val="297680756"/>
                    </a:ext>
                  </a:extLst>
                </a:gridCol>
              </a:tblGrid>
              <a:tr h="3447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latin typeface="Aptos"/>
                        </a:rPr>
                        <a:t>Component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Aptos"/>
                        </a:rPr>
                        <a:t>Estimated Cost</a:t>
                      </a:r>
                      <a:endParaRPr 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061912"/>
                  </a:ext>
                </a:extLst>
              </a:tr>
              <a:tr h="3447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Battery Pack (Li-ion)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$10 – $15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684133"/>
                  </a:ext>
                </a:extLst>
              </a:tr>
              <a:tr h="3447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PCB &amp; Electronics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$8 – $15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699776"/>
                  </a:ext>
                </a:extLst>
              </a:tr>
              <a:tr h="3447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Adapter Modules (US/EU/UK etc.)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$6 – $10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211793"/>
                  </a:ext>
                </a:extLst>
              </a:tr>
              <a:tr h="3447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Cables &amp; Connectors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$3 – $5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04048"/>
                  </a:ext>
                </a:extLst>
              </a:tr>
              <a:tr h="3447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Outer Casing (molded)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$6 – $8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206070"/>
                  </a:ext>
                </a:extLst>
              </a:tr>
              <a:tr h="3447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Assembly &amp; Labor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$5 – $8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8205868"/>
                  </a:ext>
                </a:extLst>
              </a:tr>
              <a:tr h="3447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Packaging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$1 – $2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107285"/>
                  </a:ext>
                </a:extLst>
              </a:tr>
              <a:tr h="34474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346879"/>
                  </a:ext>
                </a:extLst>
              </a:tr>
              <a:tr h="3447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Aptos"/>
                        </a:rPr>
                        <a:t>Total Estimated Cost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Aptos"/>
                        </a:rPr>
                        <a:t>$40 – $65</a:t>
                      </a:r>
                      <a:endParaRPr 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58764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245EEB1-70D2-CF79-A982-507CD41D347D}"/>
              </a:ext>
            </a:extLst>
          </p:cNvPr>
          <p:cNvSpPr txBox="1"/>
          <p:nvPr/>
        </p:nvSpPr>
        <p:spPr>
          <a:xfrm>
            <a:off x="6299335" y="5204771"/>
            <a:ext cx="515677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rial"/>
                <a:cs typeface="Arial"/>
              </a:rPr>
              <a:t>Target Pricing Strategy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+mn-lt"/>
                <a:cs typeface="Arial"/>
              </a:rPr>
              <a:t>Expected retail price: $99 – $129</a:t>
            </a:r>
            <a:r>
              <a:rPr lang="en-US" dirty="0">
                <a:latin typeface="Arial"/>
                <a:ea typeface="+mn-lt"/>
                <a:cs typeface="Arial"/>
              </a:rPr>
              <a:t> </a:t>
            </a:r>
            <a:endParaRPr lang="en-US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+mn-lt"/>
                <a:cs typeface="Arial"/>
              </a:rPr>
              <a:t>Gross margin: ~50 – 58%</a:t>
            </a:r>
            <a:r>
              <a:rPr lang="en-US" dirty="0">
                <a:latin typeface="Arial"/>
                <a:ea typeface="+mn-lt"/>
                <a:cs typeface="Arial"/>
              </a:rPr>
              <a:t> </a:t>
            </a:r>
            <a:endParaRPr lang="en-US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ea typeface="+mn-lt"/>
                <a:cs typeface="Arial"/>
              </a:rPr>
              <a:t>Positioned as a premium, all-in-one solution</a:t>
            </a:r>
            <a:endParaRPr lang="en-US">
              <a:latin typeface="Arial"/>
              <a:cs typeface="Arial"/>
            </a:endParaRPr>
          </a:p>
          <a:p>
            <a:pPr algn="l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0C9BBB-4770-362A-D236-8E60C7F58B30}"/>
              </a:ext>
            </a:extLst>
          </p:cNvPr>
          <p:cNvSpPr txBox="1"/>
          <p:nvPr/>
        </p:nvSpPr>
        <p:spPr>
          <a:xfrm>
            <a:off x="6311058" y="477115"/>
            <a:ext cx="515677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Arial"/>
                <a:cs typeface="Arial"/>
              </a:rPr>
              <a:t>Rough Cost Assumptions</a:t>
            </a:r>
            <a:endParaRPr lang="en-US" sz="2400"/>
          </a:p>
          <a:p>
            <a:pPr algn="l"/>
            <a:endParaRPr lang="en-US" dirty="0"/>
          </a:p>
        </p:txBody>
      </p:sp>
      <p:pic>
        <p:nvPicPr>
          <p:cNvPr id="5" name="Picture 4" descr="A logo for a company&#10;&#10;AI-generated content may be incorrect.">
            <a:extLst>
              <a:ext uri="{FF2B5EF4-FFF2-40B4-BE49-F238E27FC236}">
                <a16:creationId xmlns:a16="http://schemas.microsoft.com/office/drawing/2014/main" id="{B6B00E8F-032D-2CFD-1FF0-805DF0EC4C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5" r="2083" b="2381"/>
          <a:stretch>
            <a:fillRect/>
          </a:stretch>
        </p:blipFill>
        <p:spPr>
          <a:xfrm>
            <a:off x="10887698" y="222642"/>
            <a:ext cx="1086505" cy="81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344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4F9521-7C04-A70D-EDF7-FFE82E0AD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  <a:latin typeface="Arial"/>
                <a:cs typeface="Arial"/>
              </a:rPr>
              <a:t>Timeline </a:t>
            </a:r>
            <a:endParaRPr lang="en-US" sz="4000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B4C1C-C585-829A-2D0D-36811ACA4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1369724"/>
            <a:ext cx="4862447" cy="482580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/>
              <a:t>Phase 1, 2, and 3: Complete</a:t>
            </a:r>
            <a:endParaRPr lang="en-US" sz="2000"/>
          </a:p>
          <a:p>
            <a:pPr marL="0" indent="0">
              <a:buNone/>
            </a:pPr>
            <a:r>
              <a:rPr lang="en-US" sz="2000" b="1"/>
              <a:t>Phase 4: User Feedback &amp; Testing (Week 4–5)</a:t>
            </a:r>
          </a:p>
          <a:p>
            <a:r>
              <a:rPr lang="en-US" sz="2000">
                <a:ea typeface="+mn-lt"/>
                <a:cs typeface="+mn-lt"/>
              </a:rPr>
              <a:t>Presented concept to target users </a:t>
            </a:r>
            <a:endParaRPr lang="en-US" sz="2000" b="1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Collected feedback on usability, need, and interest</a:t>
            </a:r>
          </a:p>
          <a:p>
            <a:pPr marL="0" indent="0">
              <a:buNone/>
            </a:pPr>
            <a:r>
              <a:rPr lang="en-US" sz="2000" b="1"/>
              <a:t>Phase 5: Refinement &amp; Next Steps (Week 5+)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Adjusted design based on feedback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Evaluated cost assumptions and manufacturing feasibility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Planned next iteration (physical prototype + deeper testing) </a:t>
            </a:r>
            <a:endParaRPr lang="en-US" sz="200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 descr="A logo for a company&#10;&#10;AI-generated content may be incorrect.">
            <a:extLst>
              <a:ext uri="{FF2B5EF4-FFF2-40B4-BE49-F238E27FC236}">
                <a16:creationId xmlns:a16="http://schemas.microsoft.com/office/drawing/2014/main" id="{3BC9E650-58F0-D29C-DB69-408D380136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5" r="2083" b="2381"/>
          <a:stretch>
            <a:fillRect/>
          </a:stretch>
        </p:blipFill>
        <p:spPr>
          <a:xfrm>
            <a:off x="10887698" y="222642"/>
            <a:ext cx="1086505" cy="81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415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D66117-16CC-E7A2-9263-F3A48D5D2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9" y="643299"/>
            <a:ext cx="4230097" cy="3331053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>
                <a:solidFill>
                  <a:srgbClr val="FFFFFF"/>
                </a:solidFill>
              </a:rPr>
              <a:t>Feedback, Observations, </a:t>
            </a:r>
            <a:r>
              <a:rPr lang="en-US" sz="4000" b="1">
                <a:solidFill>
                  <a:srgbClr val="FFFFFF"/>
                </a:solidFill>
              </a:rPr>
              <a:t>and Key Insights</a:t>
            </a:r>
            <a:endParaRPr lang="en-US" sz="4000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9B0D4-21AF-D307-1BF4-6DFD02C8D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339036"/>
            <a:ext cx="4862447" cy="6181046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/>
              <a:t>Throughout the design process...</a:t>
            </a:r>
          </a:p>
          <a:p>
            <a:pPr marL="0" indent="0">
              <a:buNone/>
            </a:pPr>
            <a:r>
              <a:rPr lang="en-US" sz="2000" b="1"/>
              <a:t>Guidance from Feedback</a:t>
            </a:r>
            <a:endParaRPr lang="en-US" sz="2000" b="1" dirty="0"/>
          </a:p>
          <a:p>
            <a:r>
              <a:rPr lang="en-US" sz="2000"/>
              <a:t>Added a battery pack because simply </a:t>
            </a:r>
            <a:r>
              <a:rPr lang="en-US" sz="2000" dirty="0"/>
              <a:t>having an adapter did not meet the needs of our</a:t>
            </a:r>
            <a:r>
              <a:rPr lang="en-US" sz="2000"/>
              <a:t> target demographic</a:t>
            </a:r>
            <a:endParaRPr lang="en-US" sz="2000" dirty="0"/>
          </a:p>
          <a:p>
            <a:r>
              <a:rPr lang="en-US" sz="2000" dirty="0"/>
              <a:t>Needs to eliminate wires and confusion not create more (Integrated wires)</a:t>
            </a:r>
          </a:p>
          <a:p>
            <a:pPr marL="0" indent="0">
              <a:buNone/>
            </a:pPr>
            <a:r>
              <a:rPr lang="en-US" sz="2000" b="1"/>
              <a:t>Guidance from Observations</a:t>
            </a:r>
            <a:endParaRPr lang="en-US"/>
          </a:p>
          <a:p>
            <a:r>
              <a:rPr lang="en-US" sz="2000" dirty="0"/>
              <a:t>Current MVP </a:t>
            </a:r>
            <a:r>
              <a:rPr lang="en-US" sz="2000"/>
              <a:t>needs</a:t>
            </a:r>
            <a:r>
              <a:rPr lang="en-US" sz="2000" dirty="0"/>
              <a:t> a more integral design</a:t>
            </a:r>
          </a:p>
          <a:p>
            <a:r>
              <a:rPr lang="en-US" sz="2000" dirty="0"/>
              <a:t>MVP needs to be slim and in style for todays market</a:t>
            </a:r>
          </a:p>
          <a:p>
            <a:r>
              <a:rPr lang="en-US" sz="2000">
                <a:ea typeface="+mn-lt"/>
                <a:cs typeface="+mn-lt"/>
              </a:rPr>
              <a:t>Users are solving for convenience and reliability, not just charging</a:t>
            </a:r>
          </a:p>
          <a:p>
            <a:pPr marL="0" indent="0">
              <a:buNone/>
            </a:pPr>
            <a:r>
              <a:rPr lang="en-US" sz="2000" b="1"/>
              <a:t>Key Insights</a:t>
            </a:r>
          </a:p>
          <a:p>
            <a:r>
              <a:rPr lang="en-US" sz="2000"/>
              <a:t>¾ Testimonials through interviews plus class breakouts showed willingness to pay for this </a:t>
            </a:r>
            <a:r>
              <a:rPr lang="en-US" sz="2000" dirty="0"/>
              <a:t>product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Market Estimated at ~$1.1B – $2.4B globally </a:t>
            </a:r>
            <a:r>
              <a:rPr lang="en-US" sz="2000" dirty="0">
                <a:ea typeface="+mn-lt"/>
                <a:cs typeface="+mn-lt"/>
              </a:rPr>
              <a:t>(2025)</a:t>
            </a:r>
          </a:p>
          <a:p>
            <a:r>
              <a:rPr lang="en-US" sz="2000"/>
              <a:t>Market projected to double in 5 years</a:t>
            </a:r>
            <a:endParaRPr lang="en-US" sz="2000" dirty="0"/>
          </a:p>
        </p:txBody>
      </p:sp>
      <p:pic>
        <p:nvPicPr>
          <p:cNvPr id="5" name="Picture 4" descr="A logo for a company&#10;&#10;AI-generated content may be incorrect.">
            <a:extLst>
              <a:ext uri="{FF2B5EF4-FFF2-40B4-BE49-F238E27FC236}">
                <a16:creationId xmlns:a16="http://schemas.microsoft.com/office/drawing/2014/main" id="{76A63936-3EC0-2B8D-9119-6559448666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5" r="2083" b="2381"/>
          <a:stretch>
            <a:fillRect/>
          </a:stretch>
        </p:blipFill>
        <p:spPr>
          <a:xfrm>
            <a:off x="10887698" y="222642"/>
            <a:ext cx="1086505" cy="81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980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B26CBE-0B1F-ACFB-352E-1AD4C9B61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72584B0-E153-A201-3CD6-850E05435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1479FE-A738-5750-15D1-588F60F6E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4368C6-CC21-B25E-C711-BA4837D49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DDF716-523C-E41D-7A16-917660B56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92FEF4-7EA9-809E-47D8-0D763EABE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37ACF1-F1E9-36D6-4ED7-8E23551BE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3B4462-C096-DB0E-0E8D-2B81F769E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  <a:latin typeface="Arial"/>
                <a:cs typeface="Arial"/>
              </a:rPr>
              <a:t>Hypothesis</a:t>
            </a:r>
            <a:br>
              <a:rPr lang="en-US" sz="4000" b="1" dirty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4000" b="1">
                <a:solidFill>
                  <a:srgbClr val="FFFFFF"/>
                </a:solidFill>
                <a:latin typeface="Arial"/>
                <a:cs typeface="Arial"/>
              </a:rPr>
              <a:t>Validation</a:t>
            </a:r>
            <a:endParaRPr lang="en-US" sz="40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0D0B6-834A-BC11-5C87-B39883C18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07727"/>
            <a:ext cx="4862447" cy="5890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000" b="1"/>
              <a:t>What We Tested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Presented CAD-based MVP to target users 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Walked through real-world use scenarios (travel, work, daily use) 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Gathered feedback</a:t>
            </a:r>
            <a:endParaRPr lang="en-US" sz="2000"/>
          </a:p>
          <a:p>
            <a:pPr>
              <a:buNone/>
            </a:pPr>
            <a:r>
              <a:rPr lang="en-US" sz="2000" b="1"/>
              <a:t>Key Findings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Majority of users confirmed: </a:t>
            </a:r>
            <a:endParaRPr lang="en-US" sz="2000"/>
          </a:p>
          <a:p>
            <a:pPr marL="971550" lvl="1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Frequent frustration with cables, adapters, and battery life </a:t>
            </a:r>
          </a:p>
          <a:p>
            <a:pPr marL="971550" lvl="1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Difficulty staying organized and prepared while traveling 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Strong interest in a single, all-in-one solution</a:t>
            </a:r>
          </a:p>
          <a:p>
            <a:pPr marL="0" indent="0">
              <a:buNone/>
            </a:pPr>
            <a:endParaRPr lang="en-US" sz="2000" dirty="0">
              <a:latin typeface="Arial"/>
              <a:cs typeface="Arial"/>
            </a:endParaRPr>
          </a:p>
        </p:txBody>
      </p:sp>
      <p:pic>
        <p:nvPicPr>
          <p:cNvPr id="5" name="Picture 4" descr="A logo for a company&#10;&#10;AI-generated content may be incorrect.">
            <a:extLst>
              <a:ext uri="{FF2B5EF4-FFF2-40B4-BE49-F238E27FC236}">
                <a16:creationId xmlns:a16="http://schemas.microsoft.com/office/drawing/2014/main" id="{1A70B099-5184-678C-3081-81CE7F8716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5" r="2083" b="2381"/>
          <a:stretch>
            <a:fillRect/>
          </a:stretch>
        </p:blipFill>
        <p:spPr>
          <a:xfrm>
            <a:off x="10887698" y="222642"/>
            <a:ext cx="1086505" cy="81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363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D09CF3-6EFA-67E1-A76A-03CF024FD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62649"/>
            <a:ext cx="9895951" cy="1033669"/>
          </a:xfrm>
        </p:spPr>
        <p:txBody>
          <a:bodyPr>
            <a:normAutofit/>
          </a:bodyPr>
          <a:lstStyle/>
          <a:p>
            <a:r>
              <a:rPr lang="en-US" sz="5400" b="1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6DEC6-1587-084B-FF11-923546BFF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2645" y="2025120"/>
            <a:ext cx="9724031" cy="368335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000"/>
              <a:t>Any Questions?</a:t>
            </a:r>
          </a:p>
        </p:txBody>
      </p:sp>
      <p:pic>
        <p:nvPicPr>
          <p:cNvPr id="5" name="Picture 4" descr="A logo for a company&#10;&#10;AI-generated content may be incorrect.">
            <a:extLst>
              <a:ext uri="{FF2B5EF4-FFF2-40B4-BE49-F238E27FC236}">
                <a16:creationId xmlns:a16="http://schemas.microsoft.com/office/drawing/2014/main" id="{7E01C51C-4322-3469-41BD-794A8C5204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5" r="2083" b="2381"/>
          <a:stretch>
            <a:fillRect/>
          </a:stretch>
        </p:blipFill>
        <p:spPr>
          <a:xfrm>
            <a:off x="8798820" y="4167024"/>
            <a:ext cx="3161489" cy="244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646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94798B-2DC9-0424-5D81-9EDC2E740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DFCE6CF-5A69-A395-75B0-56696B5A3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B8F0BD-BC2E-17A1-7703-9CE6F9273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4E95B2-6F23-3CF3-45F4-74AA64BE5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6BD218-8C99-1B37-ED75-11EBB61C3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F22D97-17BC-66AC-0D35-241B0515E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D7FC3-72BA-D3B8-9E08-AE4E82D7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62649"/>
            <a:ext cx="9895951" cy="1033669"/>
          </a:xfrm>
        </p:spPr>
        <p:txBody>
          <a:bodyPr>
            <a:normAutofit/>
          </a:bodyPr>
          <a:lstStyle/>
          <a:p>
            <a:r>
              <a:rPr lang="en-US" sz="5400" b="1">
                <a:solidFill>
                  <a:srgbClr val="FFFFFF"/>
                </a:solidFill>
              </a:rPr>
              <a:t>Appendix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6A046-4877-A88B-95AE-25EA7C22D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2645" y="2025120"/>
            <a:ext cx="9724031" cy="36833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200">
                <a:ea typeface="+mn-lt"/>
                <a:cs typeface="+mn-lt"/>
              </a:rPr>
              <a:t>AGS Devices. (2025, July 8). </a:t>
            </a:r>
            <a:r>
              <a:rPr lang="en-US" sz="1200" i="1">
                <a:ea typeface="+mn-lt"/>
                <a:cs typeface="+mn-lt"/>
              </a:rPr>
              <a:t>BOM cost in 2025: Calculations + how to reduce it</a:t>
            </a:r>
            <a:r>
              <a:rPr lang="en-US" sz="1200">
                <a:ea typeface="+mn-lt"/>
                <a:cs typeface="+mn-lt"/>
              </a:rPr>
              <a:t>. </a:t>
            </a:r>
            <a:r>
              <a:rPr lang="en-US" sz="1200" dirty="0">
                <a:ea typeface="+mn-lt"/>
                <a:cs typeface="+mn-lt"/>
                <a:hlinkClick r:id="rId2"/>
              </a:rPr>
              <a:t>https://www.agsdevices.com/bom-cost/</a:t>
            </a:r>
          </a:p>
          <a:p>
            <a:pPr marL="0" indent="0">
              <a:buNone/>
            </a:pPr>
            <a:r>
              <a:rPr lang="en-US" sz="1200">
                <a:ea typeface="+mn-lt"/>
                <a:cs typeface="+mn-lt"/>
              </a:rPr>
              <a:t>3ERP. (n.d.). </a:t>
            </a:r>
            <a:r>
              <a:rPr lang="en-US" sz="1200" i="1">
                <a:ea typeface="+mn-lt"/>
                <a:cs typeface="+mn-lt"/>
              </a:rPr>
              <a:t>How much do injection molding costs and how to reduce them</a:t>
            </a:r>
            <a:r>
              <a:rPr lang="en-US" sz="1200">
                <a:ea typeface="+mn-lt"/>
                <a:cs typeface="+mn-lt"/>
              </a:rPr>
              <a:t>. </a:t>
            </a:r>
            <a:r>
              <a:rPr lang="en-US" sz="1200" dirty="0">
                <a:ea typeface="+mn-lt"/>
                <a:cs typeface="+mn-lt"/>
                <a:hlinkClick r:id="rId3"/>
              </a:rPr>
              <a:t>https://www.3erp.com/blog/injection-molding-cost/</a:t>
            </a:r>
          </a:p>
          <a:p>
            <a:pPr marL="0" indent="0">
              <a:buNone/>
            </a:pPr>
            <a:r>
              <a:rPr lang="en-US" sz="1200" dirty="0" err="1">
                <a:ea typeface="+mn-lt"/>
                <a:cs typeface="+mn-lt"/>
              </a:rPr>
              <a:t>PCBCart</a:t>
            </a:r>
            <a:r>
              <a:rPr lang="en-US" sz="1200" dirty="0">
                <a:ea typeface="+mn-lt"/>
                <a:cs typeface="+mn-lt"/>
              </a:rPr>
              <a:t>. (n.d.). </a:t>
            </a:r>
            <a:r>
              <a:rPr lang="en-US" sz="1200" i="1" dirty="0">
                <a:ea typeface="+mn-lt"/>
                <a:cs typeface="+mn-lt"/>
              </a:rPr>
              <a:t>How much does PCB assembly cost: A complete guide</a:t>
            </a:r>
            <a:r>
              <a:rPr lang="en-US" sz="1200" dirty="0">
                <a:ea typeface="+mn-lt"/>
                <a:cs typeface="+mn-lt"/>
              </a:rPr>
              <a:t>. </a:t>
            </a:r>
            <a:r>
              <a:rPr lang="en-US" sz="1200" dirty="0">
                <a:ea typeface="+mn-lt"/>
                <a:cs typeface="+mn-lt"/>
                <a:hlinkClick r:id="rId4"/>
              </a:rPr>
              <a:t>https://www.pcbcart.com/article/content/how-much-does-pcb-assembly-cost.html</a:t>
            </a:r>
          </a:p>
          <a:p>
            <a:pPr marL="0" indent="0">
              <a:buNone/>
            </a:pPr>
            <a:r>
              <a:rPr lang="en-US" sz="1200">
                <a:ea typeface="+mn-lt"/>
                <a:cs typeface="+mn-lt"/>
              </a:rPr>
              <a:t>The Insight Partners. (2024). </a:t>
            </a:r>
            <a:r>
              <a:rPr lang="en-US" sz="1200" i="1">
                <a:ea typeface="+mn-lt"/>
                <a:cs typeface="+mn-lt"/>
              </a:rPr>
              <a:t>Travel adapter market report</a:t>
            </a:r>
            <a:r>
              <a:rPr lang="en-US" sz="1200">
                <a:ea typeface="+mn-lt"/>
                <a:cs typeface="+mn-lt"/>
              </a:rPr>
              <a:t>. </a:t>
            </a:r>
            <a:r>
              <a:rPr lang="en-US" sz="1200" dirty="0">
                <a:ea typeface="+mn-lt"/>
                <a:cs typeface="+mn-lt"/>
                <a:hlinkClick r:id="rId5"/>
              </a:rPr>
              <a:t>https://www.theinsightpartners.com/reports/travel-adapter-market</a:t>
            </a:r>
          </a:p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Market </a:t>
            </a:r>
            <a:r>
              <a:rPr lang="en-US" sz="1200" dirty="0" err="1">
                <a:ea typeface="+mn-lt"/>
                <a:cs typeface="+mn-lt"/>
              </a:rPr>
              <a:t>Intelo</a:t>
            </a:r>
            <a:r>
              <a:rPr lang="en-US" sz="1200" dirty="0">
                <a:ea typeface="+mn-lt"/>
                <a:cs typeface="+mn-lt"/>
              </a:rPr>
              <a:t>. (2025). </a:t>
            </a:r>
            <a:r>
              <a:rPr lang="en-US" sz="1200" i="1" dirty="0">
                <a:ea typeface="+mn-lt"/>
                <a:cs typeface="+mn-lt"/>
              </a:rPr>
              <a:t>Travel adapter market report</a:t>
            </a:r>
            <a:r>
              <a:rPr lang="en-US" sz="1200" dirty="0">
                <a:ea typeface="+mn-lt"/>
                <a:cs typeface="+mn-lt"/>
              </a:rPr>
              <a:t>. </a:t>
            </a:r>
            <a:r>
              <a:rPr lang="en-US" sz="1200" dirty="0">
                <a:ea typeface="+mn-lt"/>
                <a:cs typeface="+mn-lt"/>
                <a:hlinkClick r:id="rId6"/>
              </a:rPr>
              <a:t>https://marketintelo.com/report/travel-adapter-market</a:t>
            </a:r>
            <a:endParaRPr lang="en-US"/>
          </a:p>
        </p:txBody>
      </p:sp>
      <p:pic>
        <p:nvPicPr>
          <p:cNvPr id="5" name="Picture 4" descr="A logo for a company&#10;&#10;AI-generated content may be incorrect.">
            <a:extLst>
              <a:ext uri="{FF2B5EF4-FFF2-40B4-BE49-F238E27FC236}">
                <a16:creationId xmlns:a16="http://schemas.microsoft.com/office/drawing/2014/main" id="{3F774A9F-C0CE-BAB9-B2E4-5A8B7830716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25" r="2083" b="2381"/>
          <a:stretch>
            <a:fillRect/>
          </a:stretch>
        </p:blipFill>
        <p:spPr>
          <a:xfrm>
            <a:off x="8798820" y="4167024"/>
            <a:ext cx="3161489" cy="244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17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af16cc5-7649-4528-bc4d-3d9b6f64c066}" enabled="0" method="" siteId="{2af16cc5-7649-4528-bc4d-3d9b6f64c06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MVP Presentation</vt:lpstr>
      <vt:lpstr>Hypothesis</vt:lpstr>
      <vt:lpstr>Product Concept (adapter + power bank combo)</vt:lpstr>
      <vt:lpstr>Basic Components</vt:lpstr>
      <vt:lpstr>MVP Type</vt:lpstr>
      <vt:lpstr>CAD Models</vt:lpstr>
      <vt:lpstr>Dimensions</vt:lpstr>
      <vt:lpstr>Real-world Value</vt:lpstr>
      <vt:lpstr>High-level Manufacturing Flow</vt:lpstr>
      <vt:lpstr>Rough Cost Assumptions</vt:lpstr>
      <vt:lpstr>Timeline </vt:lpstr>
      <vt:lpstr>Feedback, Observations, and Key Insights</vt:lpstr>
      <vt:lpstr>Hypothesis Validation</vt:lpstr>
      <vt:lpstr>Thank you!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MVP Presentation</dc:title>
  <dc:creator>Stantial, Sarah</dc:creator>
  <cp:revision>394</cp:revision>
  <dcterms:created xsi:type="dcterms:W3CDTF">2026-03-30T02:51:52Z</dcterms:created>
  <dcterms:modified xsi:type="dcterms:W3CDTF">2026-03-30T21:36:31Z</dcterms:modified>
</cp:coreProperties>
</file>